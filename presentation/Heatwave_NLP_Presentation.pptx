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013bd3e-fa76-e476-ff42-aaa2fd961bd9}">
          <p14:sldIdLst>
            <p14:sldId id="256"/>
            <p14:sldId id="257"/>
          </p14:sldIdLst>
        </p14:section>
        <p14:section name="System" id="{31779432-1668-5f6a-c006-a0637a92c228}">
          <p14:sldIdLst>
            <p14:sldId id="258"/>
            <p14:sldId id="259"/>
          </p14:sldIdLst>
        </p14:section>
        <p14:section name="Methods and results" id="{24ca5a51-2a1e-e845-7e12-ed6d772a452d}">
          <p14:sldIdLst>
            <p14:sldId id="260"/>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the NLP layer of the IMD heatwave early-warning use case (KJS-CES-01). It turns forecasts into warnings people can act on, in English, Hindi and Marathi, and it reads citizen posts to check the forecast on the ground. The ladder on the right shows the four severity levels. Heatwave and severe follow IMD's published criteria; watch is a pre-alert band we 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reasons the use case needs NLP: forecasts are numbers, people need warnings in their own language, and citizen reports are noisy text. We built two parts. A generates advisories from bulletins for citizens, farmers, health departments and authorities, in three languages. B reads social-media posts, finds heat-stress reports and their places, and flags disagreements with the forecast so they can be checked against the weather stations.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Lane A: a CRF extracts place, temperature and date from the IMD bulletin; the IMD rule engine decides the severity; a Seq2Seq model with attention writes the advisory; guardrails run ten automatic checks and an expert approves orange and red warnings. The rule-based templates train the Seq2Seq and are the safe fallback when a check fails. Lane B: citizen posts are normalised, classified by a BiLSTM and matched to places; the comparison with the forecast severity flags places to check with the weather stations.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one real example from the demo run. The CRF reads the bulletin sentence and extracts Chandrapur, 47.6 degrees and 18 May — Chandrapur was never seen in training. The rule engine applies IMD's criterion: 47 degrees or more on the plains is a severe heatwave, so red. The Seq2Seq writes twelve advisories, four audiences in three languages. All ten checks pass and, because it is a red warning, it waits for an expert's approval. In parallel, a citizen post about someone fainting in Chandrapur is classified as an emergency and corroborates the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part maps to a syllabus module. Module 1: hashtags are split into words by choosing the most likely split. Module 2: a small finite-state analyser handles Marathi and Hindi case endings, and a CRF tags entities in bulletins. Module 3: noisy posts are normalised. Module 4: WordNet expands the heat vocabulary and shows why word sense matters. Module 5: a BiLSTM classifies posts and a Seq2Seq with attention writes advisories. Across all of it, responsible-AI safeguards keep the warnings factual and human-approved.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from one full run. The CRF reaches 0.94 F1 on places it never saw; the BiLSTM gets 90% on post phrasings it never saw, versus 78% for a WordNet keyword baseline; every generated advisory passed all ten checks; and the pipeline also ran on 2,366 real IMD records from April to June 2024. Be clear that these test sets are synthetic, so real-world scores will be lower. Next steps: real labelled data, LLM-assisted advisories with the same guardrails, voice alerts, and dashboard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OMAIYA_TITLE">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0" y="6497726"/>
            <a:ext cx="12191695" cy="360274"/>
          </a:xfrm>
          <a:prstGeom prst="rect">
            <a:avLst/>
          </a:prstGeom>
          <a:solidFill>
            <a:schemeClr val="accent1"/>
          </a:solidFill>
          <a:ln/>
        </p:spPr>
      </p:sp>
      <p:sp>
        <p:nvSpPr>
          <p:cNvPr id="3" name="Shape 1"/>
          <p:cNvSpPr/>
          <p:nvPr/>
        </p:nvSpPr>
        <p:spPr>
          <a:xfrm>
            <a:off x="0" y="6343193"/>
            <a:ext cx="9336024" cy="167335"/>
          </a:xfrm>
          <a:prstGeom prst="rect">
            <a:avLst/>
          </a:prstGeom>
          <a:solidFill>
            <a:schemeClr val="accent2"/>
          </a:solidFill>
          <a:ln/>
        </p:spPr>
      </p:sp>
      <p:pic>
        <p:nvPicPr>
          <p:cNvPr id="4" name="Image 0" descr="Somaiya Vidyavihar University, K J Somaiya College of Engineering">    </p:cNvPr>
          <p:cNvPicPr>
            <a:picLocks noChangeAspect="1"/>
          </p:cNvPicPr>
          <p:nvPr/>
        </p:nvPicPr>
        <p:blipFill>
          <a:blip r:embed="rId1"/>
          <a:stretch>
            <a:fillRect/>
          </a:stretch>
        </p:blipFill>
        <p:spPr>
          <a:xfrm>
            <a:off x="270662" y="270662"/>
            <a:ext cx="2827325" cy="721462"/>
          </a:xfrm>
          <a:prstGeom prst="rect">
            <a:avLst/>
          </a:prstGeom>
        </p:spPr>
      </p:pic>
      <p:pic>
        <p:nvPicPr>
          <p:cNvPr id="5" name="Image 1" descr="Somaiya Trust">    </p:cNvPr>
          <p:cNvPicPr>
            <a:picLocks noChangeAspect="1"/>
          </p:cNvPicPr>
          <p:nvPr/>
        </p:nvPicPr>
        <p:blipFill>
          <a:blip r:embed="rId2"/>
          <a:stretch>
            <a:fillRect/>
          </a:stretch>
        </p:blipFill>
        <p:spPr>
          <a:xfrm>
            <a:off x="11000232" y="212141"/>
            <a:ext cx="992124" cy="747065"/>
          </a:xfrm>
          <a:prstGeom prst="rect">
            <a:avLst/>
          </a:prstGeom>
        </p:spPr>
      </p:pic>
      <p:sp>
        <p:nvSpPr>
          <p:cNvPr id="6" name="Text 2"/>
          <p:cNvSpPr/>
          <p:nvPr>
            <p:ph idx="104" type="title" hasCustomPrompt="1"/>
          </p:nvPr>
        </p:nvSpPr>
        <p:spPr>
          <a:xfrm>
            <a:off x="548640" y="1920240"/>
            <a:ext cx="7498080" cy="178308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7" name="Text 2"/>
          <p:cNvSpPr/>
          <p:nvPr>
            <p:ph idx="105" type="body" hasCustomPrompt="1"/>
          </p:nvPr>
        </p:nvSpPr>
        <p:spPr>
          <a:xfrm>
            <a:off x="548640" y="3840480"/>
            <a:ext cx="7223760" cy="86868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11091672" y="6537960"/>
            <a:ext cx="64008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1"/>
                </a:solidFill>
                <a:latin typeface="Arial"/>
                <a:ea typeface="Arial"/>
                <a:cs typeface="Arial"/>
              </a:defRPr>
            </a:lvl1pPr>
          </a:lstStyle>
          <a:p>
            <a:pPr algn="ct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OMAIYA_CONTENT">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0" y="6497726"/>
            <a:ext cx="12191695" cy="360274"/>
          </a:xfrm>
          <a:prstGeom prst="rect">
            <a:avLst/>
          </a:prstGeom>
          <a:solidFill>
            <a:schemeClr val="accent1"/>
          </a:solidFill>
          <a:ln/>
        </p:spPr>
      </p:sp>
      <p:sp>
        <p:nvSpPr>
          <p:cNvPr id="3" name="Shape 1"/>
          <p:cNvSpPr/>
          <p:nvPr/>
        </p:nvSpPr>
        <p:spPr>
          <a:xfrm>
            <a:off x="0" y="6343193"/>
            <a:ext cx="9336024" cy="167335"/>
          </a:xfrm>
          <a:prstGeom prst="rect">
            <a:avLst/>
          </a:prstGeom>
          <a:solidFill>
            <a:schemeClr val="accent2"/>
          </a:solidFill>
          <a:ln/>
        </p:spPr>
      </p:sp>
      <p:pic>
        <p:nvPicPr>
          <p:cNvPr id="4" name="Image 0" descr="Somaiya Vidyavihar University, K J Somaiya College of Engineering">    </p:cNvPr>
          <p:cNvPicPr>
            <a:picLocks noChangeAspect="1"/>
          </p:cNvPicPr>
          <p:nvPr/>
        </p:nvPicPr>
        <p:blipFill>
          <a:blip r:embed="rId1"/>
          <a:stretch>
            <a:fillRect/>
          </a:stretch>
        </p:blipFill>
        <p:spPr>
          <a:xfrm>
            <a:off x="270662" y="270662"/>
            <a:ext cx="2827325" cy="721462"/>
          </a:xfrm>
          <a:prstGeom prst="rect">
            <a:avLst/>
          </a:prstGeom>
        </p:spPr>
      </p:pic>
      <p:pic>
        <p:nvPicPr>
          <p:cNvPr id="5" name="Image 1" descr="Somaiya Trust">    </p:cNvPr>
          <p:cNvPicPr>
            <a:picLocks noChangeAspect="1"/>
          </p:cNvPicPr>
          <p:nvPr/>
        </p:nvPicPr>
        <p:blipFill>
          <a:blip r:embed="rId2"/>
          <a:stretch>
            <a:fillRect/>
          </a:stretch>
        </p:blipFill>
        <p:spPr>
          <a:xfrm>
            <a:off x="11000232" y="212141"/>
            <a:ext cx="992124" cy="747065"/>
          </a:xfrm>
          <a:prstGeom prst="rect">
            <a:avLst/>
          </a:prstGeom>
        </p:spPr>
      </p:pic>
      <p:sp>
        <p:nvSpPr>
          <p:cNvPr id="6" name="Text 2"/>
          <p:cNvSpPr/>
          <p:nvPr>
            <p:ph idx="104" type="title" hasCustomPrompt="1"/>
          </p:nvPr>
        </p:nvSpPr>
        <p:spPr>
          <a:xfrm>
            <a:off x="457200" y="1097280"/>
            <a:ext cx="10332720" cy="64008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537960"/>
            <a:ext cx="64008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1"/>
                </a:solidFill>
                <a:latin typeface="Arial"/>
                <a:ea typeface="Arial"/>
                <a:cs typeface="Arial"/>
              </a:defRPr>
            </a:lvl1pPr>
          </a:lstStyle>
          <a:p>
            <a:pPr algn="ct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537960"/>
            <a:ext cx="64008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1"/>
                </a:solidFill>
                <a:latin typeface="Arial"/>
                <a:ea typeface="Arial"/>
                <a:cs typeface="Arial"/>
              </a:defRPr>
            </a:lvl1pPr>
          </a:lstStyle>
          <a:p>
            <a:pPr algn="ct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3.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1508760"/>
            <a:ext cx="7498080" cy="320040"/>
          </a:xfrm>
          <a:prstGeom prst="rect">
            <a:avLst/>
          </a:prstGeom>
          <a:noFill/>
          <a:ln/>
        </p:spPr>
        <p:txBody>
          <a:bodyPr wrap="square" lIns="0" tIns="0" rIns="0" bIns="0" rtlCol="0" anchor="t"/>
          <a:lstStyle/>
          <a:p>
            <a:pPr indent="0" marL="0">
              <a:buNone/>
            </a:pPr>
            <a:r>
              <a:rPr lang="en-US" sz="1400" b="1" spc="150" kern="0" dirty="0">
                <a:solidFill>
                  <a:schemeClr val="accent2"/>
                </a:solidFill>
              </a:rPr>
              <a:t>NATURAL LANGUAGE PROCESSING  ·  AI USE CASE KJS-CES-01</a:t>
            </a:r>
            <a:endParaRPr lang="en-US" sz="1400" dirty="0"/>
          </a:p>
        </p:txBody>
      </p:sp>
      <p:sp>
        <p:nvSpPr>
          <p:cNvPr id="3" name="Text 2"/>
          <p:cNvSpPr/>
          <p:nvPr>
            <p:ph idx="104" type="title" hasCustomPrompt="1"/>
          </p:nvPr>
        </p:nvSpPr>
        <p:spPr>
          <a:xfrm>
            <a:off x="548640" y="1920240"/>
            <a:ext cx="7498080" cy="1783080"/>
          </a:xfrm>
          <a:prstGeom prst="rect">
            <a:avLst/>
          </a:prstGeom>
          <a:noFill/>
          <a:ln/>
        </p:spPr>
        <p:txBody>
          <a:bodyPr wrap="square" lIns="0" tIns="0" rIns="0" bIns="0" rtlCol="0" anchor="t"/>
          <a:lstStyle/>
          <a:p>
            <a:pPr algn="l" indent="0" marL="0">
              <a:buNone/>
            </a:pPr>
            <a:r>
              <a:rPr lang="en-US" sz="3600" b="1" dirty="0">
                <a:solidFill>
                  <a:schemeClr val="accent1"/>
                </a:solidFill>
              </a:rPr>
              <a:t>Heatwave NLP</a:t>
            </a:r>
            <a:endParaRPr lang="en-US" sz="3600" dirty="0"/>
          </a:p>
          <a:p>
            <a:pPr algn="l" indent="0" marL="0">
              <a:buNone/>
            </a:pPr>
            <a:r>
              <a:rPr lang="en-US" sz="3600" b="1" dirty="0">
                <a:solidFill>
                  <a:schemeClr val="tx1"/>
                </a:solidFill>
              </a:rPr>
              <a:t>Multilingual Advisories for Heatwave Early Warning</a:t>
            </a:r>
            <a:endParaRPr lang="en-US" sz="3600" dirty="0"/>
          </a:p>
        </p:txBody>
      </p:sp>
      <p:sp>
        <p:nvSpPr>
          <p:cNvPr id="4" name="Text 2"/>
          <p:cNvSpPr/>
          <p:nvPr>
            <p:ph idx="105" type="body" hasCustomPrompt="1"/>
          </p:nvPr>
        </p:nvSpPr>
        <p:spPr>
          <a:xfrm>
            <a:off x="548640" y="3840480"/>
            <a:ext cx="7223760" cy="868680"/>
          </a:xfrm>
          <a:prstGeom prst="rect">
            <a:avLst/>
          </a:prstGeom>
          <a:noFill/>
          <a:ln/>
        </p:spPr>
        <p:txBody>
          <a:bodyPr wrap="square" lIns="0" tIns="0" rIns="0" bIns="0" rtlCol="0" anchor="t"/>
          <a:lstStyle/>
          <a:p>
            <a:pPr algn="l" indent="0" marL="0">
              <a:buNone/>
            </a:pPr>
            <a:r>
              <a:rPr lang="en-US" sz="1800" dirty="0">
                <a:solidFill>
                  <a:schemeClr val="accent6"/>
                </a:solidFill>
              </a:rPr>
              <a:t>Turning IMD heatwave forecasts into fact-checked warnings for citizens, farmers, hospitals and authorities, in English, हिंदी and मराठी</a:t>
            </a:r>
            <a:endParaRPr lang="en-US" sz="1800" dirty="0"/>
          </a:p>
        </p:txBody>
      </p:sp>
      <p:sp>
        <p:nvSpPr>
          <p:cNvPr id="5" name="use case details"/>
          <p:cNvSpPr txBox="1"/>
          <p:nvPr/>
        </p:nvSpPr>
        <p:spPr>
          <a:xfrm>
            <a:off x="548640" y="5029200"/>
            <a:ext cx="7498080" cy="685800"/>
          </a:xfrm>
          <a:prstGeom prst="rect">
            <a:avLst/>
          </a:prstGeom>
          <a:noFill/>
          <a:ln/>
        </p:spPr>
        <p:txBody>
          <a:bodyPr wrap="square" lIns="0" tIns="0" rIns="0" bIns="0" rtlCol="0" anchor="t"/>
          <a:lstStyle/>
          <a:p>
            <a:pPr indent="0" marL="0">
              <a:spcAft>
                <a:spcPts val="400"/>
              </a:spcAft>
              <a:buNone/>
            </a:pPr>
            <a:r>
              <a:rPr lang="en-US" sz="1200" b="1" dirty="0">
                <a:solidFill>
                  <a:schemeClr val="tx1"/>
                </a:solidFill>
              </a:rPr>
              <a:t>Use case: </a:t>
            </a:r>
            <a:pPr indent="0" marL="0">
              <a:spcAft>
                <a:spcPts val="400"/>
              </a:spcAft>
              <a:buNone/>
            </a:pPr>
            <a:r>
              <a:rPr lang="en-US" sz="1200" dirty="0">
                <a:solidFill>
                  <a:schemeClr val="accent6"/>
                </a:solidFill>
              </a:rPr>
              <a:t>Climate Intelligence for Heatwave Monitoring, Prediction and Early Warning</a:t>
            </a:r>
            <a:endParaRPr lang="en-US" sz="1200" dirty="0"/>
          </a:p>
          <a:p>
            <a:pPr indent="0" marL="0">
              <a:spcAft>
                <a:spcPts val="400"/>
              </a:spcAft>
              <a:buNone/>
            </a:pPr>
            <a:r>
              <a:rPr lang="en-US" sz="1200" b="1" dirty="0">
                <a:solidFill>
                  <a:schemeClr val="tx1"/>
                </a:solidFill>
              </a:rPr>
              <a:t>Collaborating organization: </a:t>
            </a:r>
            <a:pPr indent="0" marL="0">
              <a:spcAft>
                <a:spcPts val="400"/>
              </a:spcAft>
              <a:buNone/>
            </a:pPr>
            <a:r>
              <a:rPr lang="en-US" sz="1200" dirty="0">
                <a:solidFill>
                  <a:schemeClr val="accent6"/>
                </a:solidFill>
              </a:rPr>
              <a:t>India Meteorological Department (IMD), Mumbai–Pune</a:t>
            </a:r>
            <a:endParaRPr lang="en-US" sz="1200" dirty="0"/>
          </a:p>
        </p:txBody>
      </p:sp>
      <p:sp>
        <p:nvSpPr>
          <p:cNvPr id="6" name="ladder heading"/>
          <p:cNvSpPr txBox="1"/>
          <p:nvPr/>
        </p:nvSpPr>
        <p:spPr>
          <a:xfrm>
            <a:off x="8503920" y="1463040"/>
            <a:ext cx="3246120" cy="274320"/>
          </a:xfrm>
          <a:prstGeom prst="rect">
            <a:avLst/>
          </a:prstGeom>
          <a:noFill/>
          <a:ln/>
        </p:spPr>
        <p:txBody>
          <a:bodyPr wrap="square" lIns="0" tIns="0" rIns="0" bIns="0" rtlCol="0" anchor="t"/>
          <a:lstStyle/>
          <a:p>
            <a:pPr indent="0" marL="0">
              <a:buNone/>
            </a:pPr>
            <a:r>
              <a:rPr lang="en-US" sz="1050" b="1" spc="100" kern="0" dirty="0">
                <a:solidFill>
                  <a:schemeClr val="accent6"/>
                </a:solidFill>
              </a:rPr>
              <a:t>IMD SEVERITY LEVELS USED BY THE SYSTEM</a:t>
            </a:r>
            <a:endParaRPr lang="en-US" sz="1050" dirty="0"/>
          </a:p>
        </p:txBody>
      </p:sp>
      <p:sp>
        <p:nvSpPr>
          <p:cNvPr id="7" name="SEVERE  ·  Red level"/>
          <p:cNvSpPr/>
          <p:nvPr/>
        </p:nvSpPr>
        <p:spPr>
          <a:xfrm>
            <a:off x="8503920" y="1828800"/>
            <a:ext cx="3246120" cy="777240"/>
          </a:xfrm>
          <a:prstGeom prst="roundRect">
            <a:avLst>
              <a:gd name="adj" fmla="val 9412"/>
            </a:avLst>
          </a:prstGeom>
          <a:solidFill>
            <a:srgbClr val="C62828"/>
          </a:solidFill>
          <a:ln/>
        </p:spPr>
      </p:sp>
      <p:sp>
        <p:nvSpPr>
          <p:cNvPr id="8" name="SEVERE  ·  Red text"/>
          <p:cNvSpPr txBox="1"/>
          <p:nvPr/>
        </p:nvSpPr>
        <p:spPr>
          <a:xfrm>
            <a:off x="8641080" y="1828800"/>
            <a:ext cx="3017520" cy="777240"/>
          </a:xfrm>
          <a:prstGeom prst="rect">
            <a:avLst/>
          </a:prstGeom>
          <a:noFill/>
          <a:ln/>
        </p:spPr>
        <p:txBody>
          <a:bodyPr wrap="square" lIns="0" tIns="0" rIns="0" bIns="0" rtlCol="0" anchor="ctr"/>
          <a:lstStyle/>
          <a:p>
            <a:pPr indent="0" marL="0">
              <a:buNone/>
            </a:pPr>
            <a:r>
              <a:rPr lang="en-US" sz="1400" b="1" dirty="0">
                <a:solidFill>
                  <a:schemeClr val="bg1"/>
                </a:solidFill>
              </a:rPr>
              <a:t>SEVERE  ·  Red</a:t>
            </a:r>
            <a:endParaRPr lang="en-US" sz="1400" dirty="0"/>
          </a:p>
          <a:p>
            <a:pPr indent="0" marL="0">
              <a:buNone/>
            </a:pPr>
            <a:r>
              <a:rPr lang="en-US" sz="1050" dirty="0">
                <a:solidFill>
                  <a:schemeClr val="bg1"/>
                </a:solidFill>
              </a:rPr>
              <a:t>Tmax ≥ 47 °C, or ≥ 6.5 °C above normal</a:t>
            </a:r>
            <a:endParaRPr lang="en-US" sz="1400" dirty="0"/>
          </a:p>
        </p:txBody>
      </p:sp>
      <p:sp>
        <p:nvSpPr>
          <p:cNvPr id="9" name="HEATWAVE  ·  Orange level"/>
          <p:cNvSpPr/>
          <p:nvPr/>
        </p:nvSpPr>
        <p:spPr>
          <a:xfrm>
            <a:off x="8503920" y="2770632"/>
            <a:ext cx="3246120" cy="777240"/>
          </a:xfrm>
          <a:prstGeom prst="roundRect">
            <a:avLst>
              <a:gd name="adj" fmla="val 9412"/>
            </a:avLst>
          </a:prstGeom>
          <a:solidFill>
            <a:srgbClr val="E07B24"/>
          </a:solidFill>
          <a:ln/>
        </p:spPr>
      </p:sp>
      <p:sp>
        <p:nvSpPr>
          <p:cNvPr id="10" name="HEATWAVE  ·  Orange text"/>
          <p:cNvSpPr txBox="1"/>
          <p:nvPr/>
        </p:nvSpPr>
        <p:spPr>
          <a:xfrm>
            <a:off x="8641080" y="2770632"/>
            <a:ext cx="3017520" cy="777240"/>
          </a:xfrm>
          <a:prstGeom prst="rect">
            <a:avLst/>
          </a:prstGeom>
          <a:noFill/>
          <a:ln/>
        </p:spPr>
        <p:txBody>
          <a:bodyPr wrap="square" lIns="0" tIns="0" rIns="0" bIns="0" rtlCol="0" anchor="ctr"/>
          <a:lstStyle/>
          <a:p>
            <a:pPr indent="0" marL="0">
              <a:buNone/>
            </a:pPr>
            <a:r>
              <a:rPr lang="en-US" sz="1400" b="1" dirty="0">
                <a:solidFill>
                  <a:schemeClr val="bg1"/>
                </a:solidFill>
              </a:rPr>
              <a:t>HEATWAVE  ·  Orange</a:t>
            </a:r>
            <a:endParaRPr lang="en-US" sz="1400" dirty="0"/>
          </a:p>
          <a:p>
            <a:pPr indent="0" marL="0">
              <a:buNone/>
            </a:pPr>
            <a:r>
              <a:rPr lang="en-US" sz="1050" dirty="0">
                <a:solidFill>
                  <a:schemeClr val="bg1"/>
                </a:solidFill>
              </a:rPr>
              <a:t>Tmax ≥ 45 °C, or 4.5–6.4 °C above normal</a:t>
            </a:r>
            <a:endParaRPr lang="en-US" sz="1400" dirty="0"/>
          </a:p>
        </p:txBody>
      </p:sp>
      <p:sp>
        <p:nvSpPr>
          <p:cNvPr id="11" name="WATCH  ·  Yellow level"/>
          <p:cNvSpPr/>
          <p:nvPr/>
        </p:nvSpPr>
        <p:spPr>
          <a:xfrm>
            <a:off x="8503920" y="3712464"/>
            <a:ext cx="3246120" cy="777240"/>
          </a:xfrm>
          <a:prstGeom prst="roundRect">
            <a:avLst>
              <a:gd name="adj" fmla="val 9412"/>
            </a:avLst>
          </a:prstGeom>
          <a:solidFill>
            <a:srgbClr val="E9B824"/>
          </a:solidFill>
          <a:ln/>
        </p:spPr>
      </p:sp>
      <p:sp>
        <p:nvSpPr>
          <p:cNvPr id="12" name="WATCH  ·  Yellow text"/>
          <p:cNvSpPr txBox="1"/>
          <p:nvPr/>
        </p:nvSpPr>
        <p:spPr>
          <a:xfrm>
            <a:off x="8641080" y="3712464"/>
            <a:ext cx="3017520" cy="777240"/>
          </a:xfrm>
          <a:prstGeom prst="rect">
            <a:avLst/>
          </a:prstGeom>
          <a:noFill/>
          <a:ln/>
        </p:spPr>
        <p:txBody>
          <a:bodyPr wrap="square" lIns="0" tIns="0" rIns="0" bIns="0" rtlCol="0" anchor="ctr"/>
          <a:lstStyle/>
          <a:p>
            <a:pPr indent="0" marL="0">
              <a:buNone/>
            </a:pPr>
            <a:r>
              <a:rPr lang="en-US" sz="1400" b="1" dirty="0">
                <a:solidFill>
                  <a:schemeClr val="tx1"/>
                </a:solidFill>
              </a:rPr>
              <a:t>WATCH  ·  Yellow</a:t>
            </a:r>
            <a:endParaRPr lang="en-US" sz="1400" dirty="0"/>
          </a:p>
          <a:p>
            <a:pPr indent="0" marL="0">
              <a:buNone/>
            </a:pPr>
            <a:r>
              <a:rPr lang="en-US" sz="1050" dirty="0">
                <a:solidFill>
                  <a:schemeClr val="tx1"/>
                </a:solidFill>
              </a:rPr>
              <a:t>2.5–4.4 °C above normal (project band)</a:t>
            </a:r>
            <a:endParaRPr lang="en-US" sz="1400" dirty="0"/>
          </a:p>
        </p:txBody>
      </p:sp>
      <p:sp>
        <p:nvSpPr>
          <p:cNvPr id="13" name="NORMAL  ·  Green level"/>
          <p:cNvSpPr/>
          <p:nvPr/>
        </p:nvSpPr>
        <p:spPr>
          <a:xfrm>
            <a:off x="8503920" y="4654296"/>
            <a:ext cx="3246120" cy="777240"/>
          </a:xfrm>
          <a:prstGeom prst="roundRect">
            <a:avLst>
              <a:gd name="adj" fmla="val 9412"/>
            </a:avLst>
          </a:prstGeom>
          <a:solidFill>
            <a:srgbClr val="2E8B57"/>
          </a:solidFill>
          <a:ln/>
        </p:spPr>
      </p:sp>
      <p:sp>
        <p:nvSpPr>
          <p:cNvPr id="14" name="NORMAL  ·  Green text"/>
          <p:cNvSpPr txBox="1"/>
          <p:nvPr/>
        </p:nvSpPr>
        <p:spPr>
          <a:xfrm>
            <a:off x="8641080" y="4654296"/>
            <a:ext cx="3017520" cy="777240"/>
          </a:xfrm>
          <a:prstGeom prst="rect">
            <a:avLst/>
          </a:prstGeom>
          <a:noFill/>
          <a:ln/>
        </p:spPr>
        <p:txBody>
          <a:bodyPr wrap="square" lIns="0" tIns="0" rIns="0" bIns="0" rtlCol="0" anchor="ctr"/>
          <a:lstStyle/>
          <a:p>
            <a:pPr indent="0" marL="0">
              <a:buNone/>
            </a:pPr>
            <a:r>
              <a:rPr lang="en-US" sz="1400" b="1" dirty="0">
                <a:solidFill>
                  <a:schemeClr val="bg1"/>
                </a:solidFill>
              </a:rPr>
              <a:t>NORMAL  ·  Green</a:t>
            </a:r>
            <a:endParaRPr lang="en-US" sz="1400" dirty="0"/>
          </a:p>
          <a:p>
            <a:pPr indent="0" marL="0">
              <a:buNone/>
            </a:pPr>
            <a:r>
              <a:rPr lang="en-US" sz="1050" dirty="0">
                <a:solidFill>
                  <a:schemeClr val="bg1"/>
                </a:solidFill>
              </a:rPr>
              <a:t>No heatwave conditions</a:t>
            </a:r>
            <a:endParaRPr lang="en-US" sz="1400" dirty="0"/>
          </a:p>
        </p:txBody>
      </p:sp>
      <p:sp>
        <p:nvSpPr>
          <p:cNvPr id="25" name="Slide Number Placeholder 0"/>
          <p:cNvSpPr>
            <a:spLocks noGrp="1"/>
          </p:cNvSpPr>
          <p:nvPr>
            <p:ph type="sldNum" sz="quarter" idx="4294967295"/>
          </p:nvPr>
        </p:nvSpPr>
        <p:spPr>
          <a:xfrm>
            <a:off x="11091672" y="6537960"/>
            <a:ext cx="64008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1"/>
                </a:solidFill>
                <a:latin typeface="Arial"/>
                <a:ea typeface="Arial"/>
                <a:cs typeface="Arial"/>
              </a:defRPr>
            </a:lvl1pPr>
          </a:lstStyle>
          <a:p>
            <a:pPr algn="ct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4" type="title" hasCustomPrompt="1"/>
          </p:nvPr>
        </p:nvSpPr>
        <p:spPr>
          <a:xfrm>
            <a:off x="457200" y="1097280"/>
            <a:ext cx="10332720" cy="640080"/>
          </a:xfrm>
          <a:prstGeom prst="rect">
            <a:avLst/>
          </a:prstGeom>
          <a:noFill/>
          <a:ln/>
        </p:spPr>
        <p:txBody>
          <a:bodyPr wrap="square" lIns="0" tIns="0" rIns="0" bIns="0" rtlCol="0" anchor="ctr"/>
          <a:lstStyle/>
          <a:p>
            <a:pPr algn="l" indent="0" marL="0">
              <a:buNone/>
            </a:pPr>
            <a:r>
              <a:rPr lang="en-US" sz="3000" b="1" dirty="0">
                <a:solidFill>
                  <a:schemeClr val="tx2"/>
                </a:solidFill>
              </a:rPr>
              <a:t>Why NLP for heatwave early warning</a:t>
            </a:r>
            <a:endParaRPr lang="en-US" sz="3000" dirty="0"/>
          </a:p>
        </p:txBody>
      </p:sp>
      <p:sp>
        <p:nvSpPr>
          <p:cNvPr id="3" name="problem header"/>
          <p:cNvSpPr txBox="1"/>
          <p:nvPr/>
        </p:nvSpPr>
        <p:spPr>
          <a:xfrm>
            <a:off x="457200" y="1874520"/>
            <a:ext cx="5120640" cy="36576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The problem</a:t>
            </a:r>
            <a:endParaRPr lang="en-US" sz="2000" dirty="0"/>
          </a:p>
        </p:txBody>
      </p:sp>
      <p:sp>
        <p:nvSpPr>
          <p:cNvPr id="4" name="Forecasts are technical circle"/>
          <p:cNvSpPr/>
          <p:nvPr/>
        </p:nvSpPr>
        <p:spPr>
          <a:xfrm>
            <a:off x="457200" y="2423160"/>
            <a:ext cx="566928" cy="566928"/>
          </a:xfrm>
          <a:prstGeom prst="ellipse">
            <a:avLst/>
          </a:prstGeom>
          <a:solidFill>
            <a:schemeClr val="accent2"/>
          </a:solidFill>
          <a:ln/>
        </p:spPr>
      </p:sp>
      <p:pic>
        <p:nvPicPr>
          <p:cNvPr id="5" name="Forecasts are technical icon" descr="Forecasts are technical">    </p:cNvPr>
          <p:cNvPicPr>
            <a:picLocks noChangeAspect="1"/>
          </p:cNvPicPr>
          <p:nvPr/>
        </p:nvPicPr>
        <p:blipFill>
          <a:blip r:embed="rId1"/>
          <a:stretch>
            <a:fillRect/>
          </a:stretch>
        </p:blipFill>
        <p:spPr>
          <a:xfrm>
            <a:off x="598932" y="2564892"/>
            <a:ext cx="283464" cy="283464"/>
          </a:xfrm>
          <a:prstGeom prst="rect">
            <a:avLst/>
          </a:prstGeom>
        </p:spPr>
      </p:pic>
      <p:sp>
        <p:nvSpPr>
          <p:cNvPr id="6" name="Forecasts are technical text"/>
          <p:cNvSpPr txBox="1"/>
          <p:nvPr/>
        </p:nvSpPr>
        <p:spPr>
          <a:xfrm>
            <a:off x="1234440" y="2404872"/>
            <a:ext cx="4343400" cy="96012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Forecasts are technical</a:t>
            </a:r>
            <a:endParaRPr lang="en-US" sz="1400" dirty="0"/>
          </a:p>
          <a:p>
            <a:pPr indent="0" marL="0">
              <a:spcAft>
                <a:spcPts val="300"/>
              </a:spcAft>
              <a:buNone/>
            </a:pPr>
            <a:r>
              <a:rPr lang="en-US" sz="1400" dirty="0">
                <a:solidFill>
                  <a:schemeClr val="accent6"/>
                </a:solidFill>
              </a:rPr>
              <a:t>“Tmax 46.1 °C, 3.6 °C above normal” means little to a farmer or a hospital.</a:t>
            </a:r>
            <a:endParaRPr lang="en-US" sz="1400" dirty="0"/>
          </a:p>
        </p:txBody>
      </p:sp>
      <p:sp>
        <p:nvSpPr>
          <p:cNvPr id="7" name="Warnings must be multilingual circle"/>
          <p:cNvSpPr/>
          <p:nvPr/>
        </p:nvSpPr>
        <p:spPr>
          <a:xfrm>
            <a:off x="457200" y="3611880"/>
            <a:ext cx="566928" cy="566928"/>
          </a:xfrm>
          <a:prstGeom prst="ellipse">
            <a:avLst/>
          </a:prstGeom>
          <a:solidFill>
            <a:schemeClr val="accent2"/>
          </a:solidFill>
          <a:ln/>
        </p:spPr>
      </p:sp>
      <p:pic>
        <p:nvPicPr>
          <p:cNvPr id="8" name="Warnings must be multilingual icon" descr="Warnings must be multilingual">    </p:cNvPr>
          <p:cNvPicPr>
            <a:picLocks noChangeAspect="1"/>
          </p:cNvPicPr>
          <p:nvPr/>
        </p:nvPicPr>
        <p:blipFill>
          <a:blip r:embed="rId2"/>
          <a:stretch>
            <a:fillRect/>
          </a:stretch>
        </p:blipFill>
        <p:spPr>
          <a:xfrm>
            <a:off x="598932" y="3753612"/>
            <a:ext cx="283464" cy="283464"/>
          </a:xfrm>
          <a:prstGeom prst="rect">
            <a:avLst/>
          </a:prstGeom>
        </p:spPr>
      </p:pic>
      <p:sp>
        <p:nvSpPr>
          <p:cNvPr id="9" name="Warnings must be multilingual text"/>
          <p:cNvSpPr txBox="1"/>
          <p:nvPr/>
        </p:nvSpPr>
        <p:spPr>
          <a:xfrm>
            <a:off x="1234440" y="3593592"/>
            <a:ext cx="4343400" cy="96012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Warnings must be multilingual</a:t>
            </a:r>
            <a:endParaRPr lang="en-US" sz="1400" dirty="0"/>
          </a:p>
          <a:p>
            <a:pPr indent="0" marL="0">
              <a:spcAft>
                <a:spcPts val="300"/>
              </a:spcAft>
              <a:buNone/>
            </a:pPr>
            <a:r>
              <a:rPr lang="en-US" sz="1400" dirty="0">
                <a:solidFill>
                  <a:schemeClr val="accent6"/>
                </a:solidFill>
              </a:rPr>
              <a:t>People act on warnings in their own language: English, Hindi, Marathi.</a:t>
            </a:r>
            <a:endParaRPr lang="en-US" sz="1400" dirty="0"/>
          </a:p>
        </p:txBody>
      </p:sp>
      <p:sp>
        <p:nvSpPr>
          <p:cNvPr id="10" name="Ground signals are noisy circle"/>
          <p:cNvSpPr/>
          <p:nvPr/>
        </p:nvSpPr>
        <p:spPr>
          <a:xfrm>
            <a:off x="457200" y="4800600"/>
            <a:ext cx="566928" cy="566928"/>
          </a:xfrm>
          <a:prstGeom prst="ellipse">
            <a:avLst/>
          </a:prstGeom>
          <a:solidFill>
            <a:schemeClr val="accent2"/>
          </a:solidFill>
          <a:ln/>
        </p:spPr>
      </p:sp>
      <p:pic>
        <p:nvPicPr>
          <p:cNvPr id="11" name="Ground signals are noisy icon" descr="Ground signals are noisy">    </p:cNvPr>
          <p:cNvPicPr>
            <a:picLocks noChangeAspect="1"/>
          </p:cNvPicPr>
          <p:nvPr/>
        </p:nvPicPr>
        <p:blipFill>
          <a:blip r:embed="rId3"/>
          <a:stretch>
            <a:fillRect/>
          </a:stretch>
        </p:blipFill>
        <p:spPr>
          <a:xfrm>
            <a:off x="598932" y="4942332"/>
            <a:ext cx="283464" cy="283464"/>
          </a:xfrm>
          <a:prstGeom prst="rect">
            <a:avLst/>
          </a:prstGeom>
        </p:spPr>
      </p:pic>
      <p:sp>
        <p:nvSpPr>
          <p:cNvPr id="12" name="Ground signals are noisy text"/>
          <p:cNvSpPr txBox="1"/>
          <p:nvPr/>
        </p:nvSpPr>
        <p:spPr>
          <a:xfrm>
            <a:off x="1234440" y="4782312"/>
            <a:ext cx="4343400" cy="96012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Ground signals are noisy</a:t>
            </a:r>
            <a:endParaRPr lang="en-US" sz="1400" dirty="0"/>
          </a:p>
          <a:p>
            <a:pPr indent="0" marL="0">
              <a:spcAft>
                <a:spcPts val="300"/>
              </a:spcAft>
              <a:buNone/>
            </a:pPr>
            <a:r>
              <a:rPr lang="en-US" sz="1400" dirty="0">
                <a:solidFill>
                  <a:schemeClr val="accent6"/>
                </a:solidFill>
              </a:rPr>
              <a:t>Citizen reports of heat stress are buried in slang, emojis and hashtags.</a:t>
            </a:r>
            <a:endParaRPr lang="en-US" sz="1400" dirty="0"/>
          </a:p>
        </p:txBody>
      </p:sp>
      <p:sp>
        <p:nvSpPr>
          <p:cNvPr id="13" name="solution header"/>
          <p:cNvSpPr txBox="1"/>
          <p:nvPr/>
        </p:nvSpPr>
        <p:spPr>
          <a:xfrm>
            <a:off x="6126480" y="1874520"/>
            <a:ext cx="5577840" cy="36576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What we built</a:t>
            </a:r>
            <a:endParaRPr lang="en-US" sz="2000" dirty="0"/>
          </a:p>
        </p:txBody>
      </p:sp>
      <p:sp>
        <p:nvSpPr>
          <p:cNvPr id="14" name="A · Advisory generation card"/>
          <p:cNvSpPr/>
          <p:nvPr/>
        </p:nvSpPr>
        <p:spPr>
          <a:xfrm>
            <a:off x="6126480" y="2377440"/>
            <a:ext cx="5605272" cy="1691640"/>
          </a:xfrm>
          <a:prstGeom prst="roundRect">
            <a:avLst>
              <a:gd name="adj" fmla="val 5405"/>
            </a:avLst>
          </a:prstGeom>
          <a:solidFill>
            <a:schemeClr val="bg2"/>
          </a:solidFill>
          <a:ln/>
        </p:spPr>
      </p:sp>
      <p:sp>
        <p:nvSpPr>
          <p:cNvPr id="15" name="A · Advisory generation circle"/>
          <p:cNvSpPr/>
          <p:nvPr/>
        </p:nvSpPr>
        <p:spPr>
          <a:xfrm>
            <a:off x="6355080" y="2606040"/>
            <a:ext cx="566928" cy="566928"/>
          </a:xfrm>
          <a:prstGeom prst="ellipse">
            <a:avLst/>
          </a:prstGeom>
          <a:solidFill>
            <a:schemeClr val="accent1"/>
          </a:solidFill>
          <a:ln/>
        </p:spPr>
      </p:sp>
      <p:pic>
        <p:nvPicPr>
          <p:cNvPr id="16" name="A · Advisory generation icon" descr="A · Advisory generation">    </p:cNvPr>
          <p:cNvPicPr>
            <a:picLocks noChangeAspect="1"/>
          </p:cNvPicPr>
          <p:nvPr/>
        </p:nvPicPr>
        <p:blipFill>
          <a:blip r:embed="rId4"/>
          <a:stretch>
            <a:fillRect/>
          </a:stretch>
        </p:blipFill>
        <p:spPr>
          <a:xfrm>
            <a:off x="6496812" y="2747772"/>
            <a:ext cx="283464" cy="283464"/>
          </a:xfrm>
          <a:prstGeom prst="rect">
            <a:avLst/>
          </a:prstGeom>
        </p:spPr>
      </p:pic>
      <p:sp>
        <p:nvSpPr>
          <p:cNvPr id="17" name="A · Advisory generation text"/>
          <p:cNvSpPr txBox="1"/>
          <p:nvPr/>
        </p:nvSpPr>
        <p:spPr>
          <a:xfrm>
            <a:off x="7132320" y="2578608"/>
            <a:ext cx="4389120" cy="132588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A · Advisory generation  </a:t>
            </a:r>
            <a:pPr indent="0" marL="0">
              <a:spcAft>
                <a:spcPts val="400"/>
              </a:spcAft>
              <a:buNone/>
            </a:pPr>
            <a:r>
              <a:rPr lang="en-US" sz="1200" b="1" dirty="0">
                <a:solidFill>
                  <a:schemeClr val="accent2"/>
                </a:solidFill>
              </a:rPr>
              <a:t>Phase V</a:t>
            </a:r>
            <a:endParaRPr lang="en-US" sz="1400" dirty="0"/>
          </a:p>
          <a:p>
            <a:pPr indent="0" marL="0">
              <a:spcAft>
                <a:spcPts val="400"/>
              </a:spcAft>
              <a:buNone/>
            </a:pPr>
            <a:r>
              <a:rPr lang="en-US" sz="1400" dirty="0">
                <a:solidFill>
                  <a:schemeClr val="accent6"/>
                </a:solidFill>
              </a:rPr>
              <a:t>IMD bulletin → facts → IMD severity → advisories for 4 audiences in 3 languages, fact-checked and approved by an expert.</a:t>
            </a:r>
            <a:endParaRPr lang="en-US" sz="1400" dirty="0"/>
          </a:p>
        </p:txBody>
      </p:sp>
      <p:sp>
        <p:nvSpPr>
          <p:cNvPr id="18" name="B · Citizen heat-report mining card"/>
          <p:cNvSpPr/>
          <p:nvPr/>
        </p:nvSpPr>
        <p:spPr>
          <a:xfrm>
            <a:off x="6126480" y="4251960"/>
            <a:ext cx="5605272" cy="1691640"/>
          </a:xfrm>
          <a:prstGeom prst="roundRect">
            <a:avLst>
              <a:gd name="adj" fmla="val 5405"/>
            </a:avLst>
          </a:prstGeom>
          <a:solidFill>
            <a:schemeClr val="bg2"/>
          </a:solidFill>
          <a:ln/>
        </p:spPr>
      </p:sp>
      <p:sp>
        <p:nvSpPr>
          <p:cNvPr id="19" name="B · Citizen heat-report mining circle"/>
          <p:cNvSpPr/>
          <p:nvPr/>
        </p:nvSpPr>
        <p:spPr>
          <a:xfrm>
            <a:off x="6355080" y="4480560"/>
            <a:ext cx="566928" cy="566928"/>
          </a:xfrm>
          <a:prstGeom prst="ellipse">
            <a:avLst/>
          </a:prstGeom>
          <a:solidFill>
            <a:schemeClr val="accent1"/>
          </a:solidFill>
          <a:ln/>
        </p:spPr>
      </p:sp>
      <p:pic>
        <p:nvPicPr>
          <p:cNvPr id="20" name="B · Citizen heat-report mining icon" descr="B · Citizen heat-report mining">    </p:cNvPr>
          <p:cNvPicPr>
            <a:picLocks noChangeAspect="1"/>
          </p:cNvPicPr>
          <p:nvPr/>
        </p:nvPicPr>
        <p:blipFill>
          <a:blip r:embed="rId5"/>
          <a:stretch>
            <a:fillRect/>
          </a:stretch>
        </p:blipFill>
        <p:spPr>
          <a:xfrm>
            <a:off x="6496812" y="4622292"/>
            <a:ext cx="283464" cy="283464"/>
          </a:xfrm>
          <a:prstGeom prst="rect">
            <a:avLst/>
          </a:prstGeom>
        </p:spPr>
      </p:pic>
      <p:sp>
        <p:nvSpPr>
          <p:cNvPr id="21" name="B · Citizen heat-report mining text"/>
          <p:cNvSpPr txBox="1"/>
          <p:nvPr/>
        </p:nvSpPr>
        <p:spPr>
          <a:xfrm>
            <a:off x="7132320" y="4453128"/>
            <a:ext cx="4389120" cy="132588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B · Citizen heat-report mining  </a:t>
            </a:r>
            <a:pPr indent="0" marL="0">
              <a:spcAft>
                <a:spcPts val="400"/>
              </a:spcAft>
              <a:buNone/>
            </a:pPr>
            <a:r>
              <a:rPr lang="en-US" sz="1200" b="1" dirty="0">
                <a:solidFill>
                  <a:schemeClr val="accent2"/>
                </a:solidFill>
              </a:rPr>
              <a:t>supports Phase IV</a:t>
            </a:r>
            <a:endParaRPr lang="en-US" sz="1400" dirty="0"/>
          </a:p>
          <a:p>
            <a:pPr indent="0" marL="0">
              <a:spcAft>
                <a:spcPts val="400"/>
              </a:spcAft>
              <a:buNone/>
            </a:pPr>
            <a:r>
              <a:rPr lang="en-US" sz="1400" dirty="0">
                <a:solidFill>
                  <a:schemeClr val="accent6"/>
                </a:solidFill>
              </a:rPr>
              <a:t>Noisy posts → heat or emergency label + place → flags where citizens and the forecast disagree, for weather-station (AWS) checks.</a:t>
            </a:r>
            <a:endParaRPr lang="en-US" sz="1400" dirty="0"/>
          </a:p>
        </p:txBody>
      </p:sp>
      <p:sp>
        <p:nvSpPr>
          <p:cNvPr id="25" name="Slide Number Placeholder 0"/>
          <p:cNvSpPr>
            <a:spLocks noGrp="1"/>
          </p:cNvSpPr>
          <p:nvPr>
            <p:ph type="sldNum" sz="quarter" idx="4294967295"/>
          </p:nvPr>
        </p:nvSpPr>
        <p:spPr>
          <a:xfrm>
            <a:off x="11091672" y="6537960"/>
            <a:ext cx="64008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1"/>
                </a:solidFill>
                <a:latin typeface="Arial"/>
                <a:ea typeface="Arial"/>
                <a:cs typeface="Arial"/>
              </a:defRPr>
            </a:lvl1pPr>
          </a:lstStyle>
          <a:p>
            <a:pPr algn="ct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4" type="title" hasCustomPrompt="1"/>
          </p:nvPr>
        </p:nvSpPr>
        <p:spPr>
          <a:xfrm>
            <a:off x="457200" y="1097280"/>
            <a:ext cx="10332720" cy="640080"/>
          </a:xfrm>
          <a:prstGeom prst="rect">
            <a:avLst/>
          </a:prstGeom>
          <a:noFill/>
          <a:ln/>
        </p:spPr>
        <p:txBody>
          <a:bodyPr wrap="square" lIns="0" tIns="0" rIns="0" bIns="0" rtlCol="0" anchor="ctr"/>
          <a:lstStyle/>
          <a:p>
            <a:pPr algn="l" indent="0" marL="0">
              <a:buNone/>
            </a:pPr>
            <a:r>
              <a:rPr lang="en-US" sz="3000" b="1" dirty="0">
                <a:solidFill>
                  <a:schemeClr val="tx2"/>
                </a:solidFill>
              </a:rPr>
              <a:t>System architecture</a:t>
            </a:r>
            <a:endParaRPr lang="en-US" sz="3000" dirty="0"/>
          </a:p>
        </p:txBody>
      </p:sp>
      <p:sp>
        <p:nvSpPr>
          <p:cNvPr id="3" name="A · ADVISORY GENERATION"/>
          <p:cNvSpPr txBox="1"/>
          <p:nvPr/>
        </p:nvSpPr>
        <p:spPr>
          <a:xfrm>
            <a:off x="457200" y="1828800"/>
            <a:ext cx="54864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A · ADVISORY GENERATION</a:t>
            </a:r>
            <a:endParaRPr lang="en-US" sz="1200" dirty="0"/>
          </a:p>
        </p:txBody>
      </p:sp>
      <p:sp>
        <p:nvSpPr>
          <p:cNvPr id="4" name="IMD bulletin box"/>
          <p:cNvSpPr/>
          <p:nvPr/>
        </p:nvSpPr>
        <p:spPr>
          <a:xfrm>
            <a:off x="457200" y="2148840"/>
            <a:ext cx="1417320" cy="868680"/>
          </a:xfrm>
          <a:prstGeom prst="roundRect">
            <a:avLst>
              <a:gd name="adj" fmla="val 8421"/>
            </a:avLst>
          </a:prstGeom>
          <a:solidFill>
            <a:schemeClr val="accent6">
              <a:alpha val="12000"/>
            </a:schemeClr>
          </a:solidFill>
          <a:ln w="15875">
            <a:solidFill>
              <a:schemeClr val="accent6"/>
            </a:solidFill>
            <a:prstDash val="solid"/>
          </a:ln>
        </p:spPr>
      </p:sp>
      <p:sp>
        <p:nvSpPr>
          <p:cNvPr id="5" name="IMD bulletin label"/>
          <p:cNvSpPr txBox="1"/>
          <p:nvPr/>
        </p:nvSpPr>
        <p:spPr>
          <a:xfrm>
            <a:off x="512064" y="2148840"/>
            <a:ext cx="1307592" cy="868680"/>
          </a:xfrm>
          <a:prstGeom prst="rect">
            <a:avLst/>
          </a:prstGeom>
          <a:noFill/>
          <a:ln/>
        </p:spPr>
        <p:txBody>
          <a:bodyPr wrap="square" lIns="0" tIns="0" rIns="0" bIns="0" rtlCol="0" anchor="ctr"/>
          <a:lstStyle/>
          <a:p>
            <a:pPr algn="ctr" indent="0" marL="0">
              <a:buNone/>
            </a:pPr>
            <a:r>
              <a:rPr lang="en-US" sz="1200" b="1" dirty="0">
                <a:solidFill>
                  <a:schemeClr val="tx1"/>
                </a:solidFill>
              </a:rPr>
              <a:t>IMD bulletin</a:t>
            </a:r>
            <a:endParaRPr lang="en-US" sz="1400" dirty="0"/>
          </a:p>
          <a:p>
            <a:pPr algn="ctr" indent="0" marL="0">
              <a:buNone/>
            </a:pPr>
            <a:r>
              <a:rPr lang="en-US" sz="1050" dirty="0">
                <a:solidFill>
                  <a:schemeClr val="accent6"/>
                </a:solidFill>
              </a:rPr>
              <a:t>press releases</a:t>
            </a:r>
            <a:endParaRPr lang="en-US" sz="1400" dirty="0"/>
          </a:p>
        </p:txBody>
      </p:sp>
      <p:sp>
        <p:nvSpPr>
          <p:cNvPr id="6" name="CRF NER box"/>
          <p:cNvSpPr/>
          <p:nvPr/>
        </p:nvSpPr>
        <p:spPr>
          <a:xfrm>
            <a:off x="2103120" y="2148840"/>
            <a:ext cx="1417320" cy="868680"/>
          </a:xfrm>
          <a:prstGeom prst="roundRect">
            <a:avLst>
              <a:gd name="adj" fmla="val 8421"/>
            </a:avLst>
          </a:prstGeom>
          <a:solidFill>
            <a:schemeClr val="accent3">
              <a:alpha val="12000"/>
            </a:schemeClr>
          </a:solidFill>
          <a:ln w="15875">
            <a:solidFill>
              <a:schemeClr val="accent3"/>
            </a:solidFill>
            <a:prstDash val="solid"/>
          </a:ln>
        </p:spPr>
      </p:sp>
      <p:sp>
        <p:nvSpPr>
          <p:cNvPr id="7" name="CRF NER label"/>
          <p:cNvSpPr txBox="1"/>
          <p:nvPr/>
        </p:nvSpPr>
        <p:spPr>
          <a:xfrm>
            <a:off x="2157984" y="2148840"/>
            <a:ext cx="1307592" cy="868680"/>
          </a:xfrm>
          <a:prstGeom prst="rect">
            <a:avLst/>
          </a:prstGeom>
          <a:noFill/>
          <a:ln/>
        </p:spPr>
        <p:txBody>
          <a:bodyPr wrap="square" lIns="0" tIns="0" rIns="0" bIns="0" rtlCol="0" anchor="ctr"/>
          <a:lstStyle/>
          <a:p>
            <a:pPr algn="ctr" indent="0" marL="0">
              <a:buNone/>
            </a:pPr>
            <a:r>
              <a:rPr lang="en-US" sz="1200" b="1" dirty="0">
                <a:solidFill>
                  <a:schemeClr val="tx1"/>
                </a:solidFill>
              </a:rPr>
              <a:t>CRF NER</a:t>
            </a:r>
            <a:endParaRPr lang="en-US" sz="1400" dirty="0"/>
          </a:p>
          <a:p>
            <a:pPr algn="ctr" indent="0" marL="0">
              <a:buNone/>
            </a:pPr>
            <a:r>
              <a:rPr lang="en-US" sz="1050" dirty="0">
                <a:solidFill>
                  <a:schemeClr val="accent6"/>
                </a:solidFill>
              </a:rPr>
              <a:t>place · temp · date</a:t>
            </a:r>
            <a:endParaRPr lang="en-US" sz="1400" dirty="0"/>
          </a:p>
        </p:txBody>
      </p:sp>
      <p:sp>
        <p:nvSpPr>
          <p:cNvPr id="8" name="A arrow 1"/>
          <p:cNvSpPr/>
          <p:nvPr/>
        </p:nvSpPr>
        <p:spPr>
          <a:xfrm>
            <a:off x="1874520" y="2583180"/>
            <a:ext cx="228600" cy="0"/>
          </a:xfrm>
          <a:prstGeom prst="line">
            <a:avLst/>
          </a:prstGeom>
          <a:noFill/>
          <a:ln w="19050">
            <a:solidFill>
              <a:schemeClr val="accent6"/>
            </a:solidFill>
            <a:prstDash val="solid"/>
            <a:tailEnd type="triangle"/>
          </a:ln>
        </p:spPr>
      </p:sp>
      <p:sp>
        <p:nvSpPr>
          <p:cNvPr id="9" name="IMD rule engine box"/>
          <p:cNvSpPr/>
          <p:nvPr/>
        </p:nvSpPr>
        <p:spPr>
          <a:xfrm>
            <a:off x="3749040" y="2148840"/>
            <a:ext cx="1417320" cy="868680"/>
          </a:xfrm>
          <a:prstGeom prst="roundRect">
            <a:avLst>
              <a:gd name="adj" fmla="val 8421"/>
            </a:avLst>
          </a:prstGeom>
          <a:solidFill>
            <a:schemeClr val="accent4">
              <a:alpha val="12000"/>
            </a:schemeClr>
          </a:solidFill>
          <a:ln w="15875">
            <a:solidFill>
              <a:schemeClr val="accent4"/>
            </a:solidFill>
            <a:prstDash val="solid"/>
          </a:ln>
        </p:spPr>
      </p:sp>
      <p:sp>
        <p:nvSpPr>
          <p:cNvPr id="10" name="IMD rule engine label"/>
          <p:cNvSpPr txBox="1"/>
          <p:nvPr/>
        </p:nvSpPr>
        <p:spPr>
          <a:xfrm>
            <a:off x="3803904" y="2148840"/>
            <a:ext cx="1307592" cy="868680"/>
          </a:xfrm>
          <a:prstGeom prst="rect">
            <a:avLst/>
          </a:prstGeom>
          <a:noFill/>
          <a:ln/>
        </p:spPr>
        <p:txBody>
          <a:bodyPr wrap="square" lIns="0" tIns="0" rIns="0" bIns="0" rtlCol="0" anchor="ctr"/>
          <a:lstStyle/>
          <a:p>
            <a:pPr algn="ctr" indent="0" marL="0">
              <a:buNone/>
            </a:pPr>
            <a:r>
              <a:rPr lang="en-US" sz="1200" b="1" dirty="0">
                <a:solidFill>
                  <a:schemeClr val="tx1"/>
                </a:solidFill>
              </a:rPr>
              <a:t>IMD rule engine</a:t>
            </a:r>
            <a:endParaRPr lang="en-US" sz="1400" dirty="0"/>
          </a:p>
          <a:p>
            <a:pPr algn="ctr" indent="0" marL="0">
              <a:buNone/>
            </a:pPr>
            <a:r>
              <a:rPr lang="en-US" sz="1050" dirty="0">
                <a:solidFill>
                  <a:schemeClr val="accent6"/>
                </a:solidFill>
              </a:rPr>
              <a:t>severity + colour</a:t>
            </a:r>
            <a:endParaRPr lang="en-US" sz="1400" dirty="0"/>
          </a:p>
        </p:txBody>
      </p:sp>
      <p:sp>
        <p:nvSpPr>
          <p:cNvPr id="11" name="A arrow 2"/>
          <p:cNvSpPr/>
          <p:nvPr/>
        </p:nvSpPr>
        <p:spPr>
          <a:xfrm>
            <a:off x="3520440" y="2583180"/>
            <a:ext cx="228600" cy="0"/>
          </a:xfrm>
          <a:prstGeom prst="line">
            <a:avLst/>
          </a:prstGeom>
          <a:noFill/>
          <a:ln w="19050">
            <a:solidFill>
              <a:schemeClr val="accent6"/>
            </a:solidFill>
            <a:prstDash val="solid"/>
            <a:tailEnd type="triangle"/>
          </a:ln>
        </p:spPr>
      </p:sp>
      <p:sp>
        <p:nvSpPr>
          <p:cNvPr id="12" name="Seq2Seq + attention box"/>
          <p:cNvSpPr/>
          <p:nvPr/>
        </p:nvSpPr>
        <p:spPr>
          <a:xfrm>
            <a:off x="5394960" y="2148840"/>
            <a:ext cx="1417320" cy="868680"/>
          </a:xfrm>
          <a:prstGeom prst="roundRect">
            <a:avLst>
              <a:gd name="adj" fmla="val 8421"/>
            </a:avLst>
          </a:prstGeom>
          <a:solidFill>
            <a:schemeClr val="accent3">
              <a:alpha val="12000"/>
            </a:schemeClr>
          </a:solidFill>
          <a:ln w="15875">
            <a:solidFill>
              <a:schemeClr val="accent3"/>
            </a:solidFill>
            <a:prstDash val="solid"/>
          </a:ln>
        </p:spPr>
      </p:sp>
      <p:sp>
        <p:nvSpPr>
          <p:cNvPr id="13" name="Seq2Seq + attention label"/>
          <p:cNvSpPr txBox="1"/>
          <p:nvPr/>
        </p:nvSpPr>
        <p:spPr>
          <a:xfrm>
            <a:off x="5449824" y="2148840"/>
            <a:ext cx="1307592" cy="868680"/>
          </a:xfrm>
          <a:prstGeom prst="rect">
            <a:avLst/>
          </a:prstGeom>
          <a:noFill/>
          <a:ln/>
        </p:spPr>
        <p:txBody>
          <a:bodyPr wrap="square" lIns="0" tIns="0" rIns="0" bIns="0" rtlCol="0" anchor="ctr"/>
          <a:lstStyle/>
          <a:p>
            <a:pPr algn="ctr" indent="0" marL="0">
              <a:buNone/>
            </a:pPr>
            <a:r>
              <a:rPr lang="en-US" sz="1200" b="1" dirty="0">
                <a:solidFill>
                  <a:schemeClr val="tx1"/>
                </a:solidFill>
              </a:rPr>
              <a:t>Seq2Seq + attention</a:t>
            </a:r>
            <a:endParaRPr lang="en-US" sz="1400" dirty="0"/>
          </a:p>
          <a:p>
            <a:pPr algn="ctr" indent="0" marL="0">
              <a:buNone/>
            </a:pPr>
            <a:r>
              <a:rPr lang="en-US" sz="1050" dirty="0">
                <a:solidFill>
                  <a:schemeClr val="accent6"/>
                </a:solidFill>
              </a:rPr>
              <a:t>BiLSTM → LSTM</a:t>
            </a:r>
            <a:endParaRPr lang="en-US" sz="1400" dirty="0"/>
          </a:p>
        </p:txBody>
      </p:sp>
      <p:sp>
        <p:nvSpPr>
          <p:cNvPr id="14" name="A arrow 3"/>
          <p:cNvSpPr/>
          <p:nvPr/>
        </p:nvSpPr>
        <p:spPr>
          <a:xfrm>
            <a:off x="5166360" y="2583180"/>
            <a:ext cx="228600" cy="0"/>
          </a:xfrm>
          <a:prstGeom prst="line">
            <a:avLst/>
          </a:prstGeom>
          <a:noFill/>
          <a:ln w="19050">
            <a:solidFill>
              <a:schemeClr val="accent6"/>
            </a:solidFill>
            <a:prstDash val="solid"/>
            <a:tailEnd type="triangle"/>
          </a:ln>
        </p:spPr>
      </p:sp>
      <p:sp>
        <p:nvSpPr>
          <p:cNvPr id="15" name="Guardrails box"/>
          <p:cNvSpPr/>
          <p:nvPr/>
        </p:nvSpPr>
        <p:spPr>
          <a:xfrm>
            <a:off x="7040880" y="2148840"/>
            <a:ext cx="1417320" cy="868680"/>
          </a:xfrm>
          <a:prstGeom prst="roundRect">
            <a:avLst>
              <a:gd name="adj" fmla="val 8421"/>
            </a:avLst>
          </a:prstGeom>
          <a:solidFill>
            <a:schemeClr val="accent5">
              <a:alpha val="12000"/>
            </a:schemeClr>
          </a:solidFill>
          <a:ln w="15875">
            <a:solidFill>
              <a:schemeClr val="accent5"/>
            </a:solidFill>
            <a:prstDash val="solid"/>
          </a:ln>
        </p:spPr>
      </p:sp>
      <p:sp>
        <p:nvSpPr>
          <p:cNvPr id="16" name="Guardrails label"/>
          <p:cNvSpPr txBox="1"/>
          <p:nvPr/>
        </p:nvSpPr>
        <p:spPr>
          <a:xfrm>
            <a:off x="7095744" y="2148840"/>
            <a:ext cx="1307592" cy="868680"/>
          </a:xfrm>
          <a:prstGeom prst="rect">
            <a:avLst/>
          </a:prstGeom>
          <a:noFill/>
          <a:ln/>
        </p:spPr>
        <p:txBody>
          <a:bodyPr wrap="square" lIns="0" tIns="0" rIns="0" bIns="0" rtlCol="0" anchor="ctr"/>
          <a:lstStyle/>
          <a:p>
            <a:pPr algn="ctr" indent="0" marL="0">
              <a:buNone/>
            </a:pPr>
            <a:r>
              <a:rPr lang="en-US" sz="1200" b="1" dirty="0">
                <a:solidFill>
                  <a:schemeClr val="tx1"/>
                </a:solidFill>
              </a:rPr>
              <a:t>Guardrails</a:t>
            </a:r>
            <a:endParaRPr lang="en-US" sz="1400" dirty="0"/>
          </a:p>
          <a:p>
            <a:pPr algn="ctr" indent="0" marL="0">
              <a:buNone/>
            </a:pPr>
            <a:r>
              <a:rPr lang="en-US" sz="1050" dirty="0">
                <a:solidFill>
                  <a:schemeClr val="accent6"/>
                </a:solidFill>
              </a:rPr>
              <a:t>10 automatic checks</a:t>
            </a:r>
            <a:endParaRPr lang="en-US" sz="1400" dirty="0"/>
          </a:p>
        </p:txBody>
      </p:sp>
      <p:sp>
        <p:nvSpPr>
          <p:cNvPr id="17" name="A arrow 4"/>
          <p:cNvSpPr/>
          <p:nvPr/>
        </p:nvSpPr>
        <p:spPr>
          <a:xfrm>
            <a:off x="6812280" y="2583180"/>
            <a:ext cx="228600" cy="0"/>
          </a:xfrm>
          <a:prstGeom prst="line">
            <a:avLst/>
          </a:prstGeom>
          <a:noFill/>
          <a:ln w="19050">
            <a:solidFill>
              <a:schemeClr val="accent6"/>
            </a:solidFill>
            <a:prstDash val="solid"/>
            <a:tailEnd type="triangle"/>
          </a:ln>
        </p:spPr>
      </p:sp>
      <p:sp>
        <p:nvSpPr>
          <p:cNvPr id="18" name="Expert review box"/>
          <p:cNvSpPr/>
          <p:nvPr/>
        </p:nvSpPr>
        <p:spPr>
          <a:xfrm>
            <a:off x="8686800" y="2148840"/>
            <a:ext cx="1417320" cy="868680"/>
          </a:xfrm>
          <a:prstGeom prst="roundRect">
            <a:avLst>
              <a:gd name="adj" fmla="val 8421"/>
            </a:avLst>
          </a:prstGeom>
          <a:solidFill>
            <a:schemeClr val="accent5">
              <a:alpha val="12000"/>
            </a:schemeClr>
          </a:solidFill>
          <a:ln w="15875">
            <a:solidFill>
              <a:schemeClr val="accent5"/>
            </a:solidFill>
            <a:prstDash val="solid"/>
          </a:ln>
        </p:spPr>
      </p:sp>
      <p:sp>
        <p:nvSpPr>
          <p:cNvPr id="19" name="Expert review label"/>
          <p:cNvSpPr txBox="1"/>
          <p:nvPr/>
        </p:nvSpPr>
        <p:spPr>
          <a:xfrm>
            <a:off x="8741664" y="2148840"/>
            <a:ext cx="1307592" cy="868680"/>
          </a:xfrm>
          <a:prstGeom prst="rect">
            <a:avLst/>
          </a:prstGeom>
          <a:noFill/>
          <a:ln/>
        </p:spPr>
        <p:txBody>
          <a:bodyPr wrap="square" lIns="0" tIns="0" rIns="0" bIns="0" rtlCol="0" anchor="ctr"/>
          <a:lstStyle/>
          <a:p>
            <a:pPr algn="ctr" indent="0" marL="0">
              <a:buNone/>
            </a:pPr>
            <a:r>
              <a:rPr lang="en-US" sz="1200" b="1" dirty="0">
                <a:solidFill>
                  <a:schemeClr val="tx1"/>
                </a:solidFill>
              </a:rPr>
              <a:t>Expert review</a:t>
            </a:r>
            <a:endParaRPr lang="en-US" sz="1400" dirty="0"/>
          </a:p>
          <a:p>
            <a:pPr algn="ctr" indent="0" marL="0">
              <a:buNone/>
            </a:pPr>
            <a:r>
              <a:rPr lang="en-US" sz="1050" dirty="0">
                <a:solidFill>
                  <a:schemeClr val="accent6"/>
                </a:solidFill>
              </a:rPr>
              <a:t>Orange/Red approval</a:t>
            </a:r>
            <a:endParaRPr lang="en-US" sz="1400" dirty="0"/>
          </a:p>
        </p:txBody>
      </p:sp>
      <p:sp>
        <p:nvSpPr>
          <p:cNvPr id="20" name="A arrow 5"/>
          <p:cNvSpPr/>
          <p:nvPr/>
        </p:nvSpPr>
        <p:spPr>
          <a:xfrm>
            <a:off x="8458200" y="2583180"/>
            <a:ext cx="228600" cy="0"/>
          </a:xfrm>
          <a:prstGeom prst="line">
            <a:avLst/>
          </a:prstGeom>
          <a:noFill/>
          <a:ln w="19050">
            <a:solidFill>
              <a:schemeClr val="accent6"/>
            </a:solidFill>
            <a:prstDash val="solid"/>
            <a:tailEnd type="triangle"/>
          </a:ln>
        </p:spPr>
      </p:sp>
      <p:sp>
        <p:nvSpPr>
          <p:cNvPr id="21" name="Advisories box"/>
          <p:cNvSpPr/>
          <p:nvPr/>
        </p:nvSpPr>
        <p:spPr>
          <a:xfrm>
            <a:off x="10332720" y="2148840"/>
            <a:ext cx="1417320" cy="868680"/>
          </a:xfrm>
          <a:prstGeom prst="roundRect">
            <a:avLst>
              <a:gd name="adj" fmla="val 8421"/>
            </a:avLst>
          </a:prstGeom>
          <a:solidFill>
            <a:schemeClr val="accent6">
              <a:alpha val="12000"/>
            </a:schemeClr>
          </a:solidFill>
          <a:ln w="15875">
            <a:solidFill>
              <a:schemeClr val="accent6"/>
            </a:solidFill>
            <a:prstDash val="solid"/>
          </a:ln>
        </p:spPr>
      </p:sp>
      <p:sp>
        <p:nvSpPr>
          <p:cNvPr id="22" name="Advisories label"/>
          <p:cNvSpPr txBox="1"/>
          <p:nvPr/>
        </p:nvSpPr>
        <p:spPr>
          <a:xfrm>
            <a:off x="10387584" y="2148840"/>
            <a:ext cx="1307592" cy="868680"/>
          </a:xfrm>
          <a:prstGeom prst="rect">
            <a:avLst/>
          </a:prstGeom>
          <a:noFill/>
          <a:ln/>
        </p:spPr>
        <p:txBody>
          <a:bodyPr wrap="square" lIns="0" tIns="0" rIns="0" bIns="0" rtlCol="0" anchor="ctr"/>
          <a:lstStyle/>
          <a:p>
            <a:pPr algn="ctr" indent="0" marL="0">
              <a:buNone/>
            </a:pPr>
            <a:r>
              <a:rPr lang="en-US" sz="1200" b="1" dirty="0">
                <a:solidFill>
                  <a:schemeClr val="tx1"/>
                </a:solidFill>
              </a:rPr>
              <a:t>Advisories</a:t>
            </a:r>
            <a:endParaRPr lang="en-US" sz="1400" dirty="0"/>
          </a:p>
          <a:p>
            <a:pPr algn="ctr" indent="0" marL="0">
              <a:buNone/>
            </a:pPr>
            <a:r>
              <a:rPr lang="en-US" sz="1050" dirty="0">
                <a:solidFill>
                  <a:schemeClr val="accent6"/>
                </a:solidFill>
              </a:rPr>
              <a:t>4 audiences × 3 languages</a:t>
            </a:r>
            <a:endParaRPr lang="en-US" sz="1400" dirty="0"/>
          </a:p>
        </p:txBody>
      </p:sp>
      <p:sp>
        <p:nvSpPr>
          <p:cNvPr id="23" name="A arrow 6"/>
          <p:cNvSpPr/>
          <p:nvPr/>
        </p:nvSpPr>
        <p:spPr>
          <a:xfrm>
            <a:off x="10104120" y="2583180"/>
            <a:ext cx="228600" cy="0"/>
          </a:xfrm>
          <a:prstGeom prst="line">
            <a:avLst/>
          </a:prstGeom>
          <a:noFill/>
          <a:ln w="19050">
            <a:solidFill>
              <a:schemeClr val="accent6"/>
            </a:solidFill>
            <a:prstDash val="solid"/>
            <a:tailEnd type="triangle"/>
          </a:ln>
        </p:spPr>
      </p:sp>
      <p:sp>
        <p:nvSpPr>
          <p:cNvPr id="24" name="Templates box"/>
          <p:cNvSpPr/>
          <p:nvPr/>
        </p:nvSpPr>
        <p:spPr>
          <a:xfrm>
            <a:off x="5394960" y="3182112"/>
            <a:ext cx="1417320" cy="548640"/>
          </a:xfrm>
          <a:prstGeom prst="roundRect">
            <a:avLst>
              <a:gd name="adj" fmla="val 13333"/>
            </a:avLst>
          </a:prstGeom>
          <a:solidFill>
            <a:schemeClr val="accent4">
              <a:alpha val="12000"/>
            </a:schemeClr>
          </a:solidFill>
          <a:ln w="15875">
            <a:solidFill>
              <a:schemeClr val="accent4"/>
            </a:solidFill>
            <a:prstDash val="solid"/>
          </a:ln>
        </p:spPr>
      </p:sp>
      <p:sp>
        <p:nvSpPr>
          <p:cNvPr id="25" name="Templates label"/>
          <p:cNvSpPr txBox="1"/>
          <p:nvPr/>
        </p:nvSpPr>
        <p:spPr>
          <a:xfrm>
            <a:off x="5449824" y="3182112"/>
            <a:ext cx="1307592" cy="548640"/>
          </a:xfrm>
          <a:prstGeom prst="rect">
            <a:avLst/>
          </a:prstGeom>
          <a:noFill/>
          <a:ln/>
        </p:spPr>
        <p:txBody>
          <a:bodyPr wrap="square" lIns="0" tIns="0" rIns="0" bIns="0" rtlCol="0" anchor="ctr"/>
          <a:lstStyle/>
          <a:p>
            <a:pPr algn="ctr" indent="0" marL="0">
              <a:buNone/>
            </a:pPr>
            <a:r>
              <a:rPr lang="en-US" sz="1200" b="1" dirty="0">
                <a:solidFill>
                  <a:schemeClr val="tx1"/>
                </a:solidFill>
              </a:rPr>
              <a:t>Templates</a:t>
            </a:r>
            <a:endParaRPr lang="en-US" sz="1400" dirty="0"/>
          </a:p>
          <a:p>
            <a:pPr algn="ctr" indent="0" marL="0">
              <a:buNone/>
            </a:pPr>
            <a:r>
              <a:rPr lang="en-US" sz="1050" dirty="0">
                <a:solidFill>
                  <a:schemeClr val="accent6"/>
                </a:solidFill>
              </a:rPr>
              <a:t>rule-based · en/hi/mr</a:t>
            </a:r>
            <a:endParaRPr lang="en-US" sz="1400" dirty="0"/>
          </a:p>
        </p:txBody>
      </p:sp>
      <p:sp>
        <p:nvSpPr>
          <p:cNvPr id="26" name="templates train seq2seq"/>
          <p:cNvSpPr/>
          <p:nvPr/>
        </p:nvSpPr>
        <p:spPr>
          <a:xfrm flipV="1">
            <a:off x="6103620" y="3017520"/>
            <a:ext cx="0" cy="164592"/>
          </a:xfrm>
          <a:prstGeom prst="line">
            <a:avLst/>
          </a:prstGeom>
          <a:noFill/>
          <a:ln w="19050">
            <a:solidFill>
              <a:schemeClr val="accent6"/>
            </a:solidFill>
            <a:prstDash val="solid"/>
            <a:tailEnd type="triangle"/>
          </a:ln>
        </p:spPr>
      </p:sp>
      <p:sp>
        <p:nvSpPr>
          <p:cNvPr id="27" name="trains label"/>
          <p:cNvSpPr txBox="1"/>
          <p:nvPr/>
        </p:nvSpPr>
        <p:spPr>
          <a:xfrm>
            <a:off x="6158484" y="3017520"/>
            <a:ext cx="548640" cy="182880"/>
          </a:xfrm>
          <a:prstGeom prst="rect">
            <a:avLst/>
          </a:prstGeom>
          <a:noFill/>
          <a:ln/>
        </p:spPr>
        <p:txBody>
          <a:bodyPr wrap="square" lIns="0" tIns="0" rIns="0" bIns="0" rtlCol="0" anchor="t"/>
          <a:lstStyle/>
          <a:p>
            <a:pPr indent="0" marL="0">
              <a:buNone/>
            </a:pPr>
            <a:r>
              <a:rPr lang="en-US" sz="1000" i="1" dirty="0">
                <a:solidFill>
                  <a:schemeClr val="accent6"/>
                </a:solidFill>
              </a:rPr>
              <a:t>trains</a:t>
            </a:r>
            <a:endParaRPr lang="en-US" sz="1000" dirty="0"/>
          </a:p>
        </p:txBody>
      </p:sp>
      <p:sp>
        <p:nvSpPr>
          <p:cNvPr id="28" name="fallback horizontal"/>
          <p:cNvSpPr/>
          <p:nvPr/>
        </p:nvSpPr>
        <p:spPr>
          <a:xfrm>
            <a:off x="6812280" y="3456432"/>
            <a:ext cx="937260" cy="0"/>
          </a:xfrm>
          <a:prstGeom prst="line">
            <a:avLst/>
          </a:prstGeom>
          <a:noFill/>
          <a:ln w="19050">
            <a:solidFill>
              <a:schemeClr val="accent6"/>
            </a:solidFill>
            <a:prstDash val="solid"/>
          </a:ln>
        </p:spPr>
      </p:sp>
      <p:sp>
        <p:nvSpPr>
          <p:cNvPr id="29" name="fallback to guardrails"/>
          <p:cNvSpPr/>
          <p:nvPr/>
        </p:nvSpPr>
        <p:spPr>
          <a:xfrm flipV="1">
            <a:off x="7749540" y="3017520"/>
            <a:ext cx="0" cy="438912"/>
          </a:xfrm>
          <a:prstGeom prst="line">
            <a:avLst/>
          </a:prstGeom>
          <a:noFill/>
          <a:ln w="19050">
            <a:solidFill>
              <a:schemeClr val="accent6"/>
            </a:solidFill>
            <a:prstDash val="solid"/>
            <a:tailEnd type="triangle"/>
          </a:ln>
        </p:spPr>
      </p:sp>
      <p:sp>
        <p:nvSpPr>
          <p:cNvPr id="30" name="fallback label"/>
          <p:cNvSpPr txBox="1"/>
          <p:nvPr/>
        </p:nvSpPr>
        <p:spPr>
          <a:xfrm>
            <a:off x="7804404" y="3072384"/>
            <a:ext cx="914400" cy="182880"/>
          </a:xfrm>
          <a:prstGeom prst="rect">
            <a:avLst/>
          </a:prstGeom>
          <a:noFill/>
          <a:ln/>
        </p:spPr>
        <p:txBody>
          <a:bodyPr wrap="square" lIns="0" tIns="0" rIns="0" bIns="0" rtlCol="0" anchor="t"/>
          <a:lstStyle/>
          <a:p>
            <a:pPr indent="0" marL="0">
              <a:buNone/>
            </a:pPr>
            <a:r>
              <a:rPr lang="en-US" sz="1000" i="1" dirty="0">
                <a:solidFill>
                  <a:schemeClr val="accent6"/>
                </a:solidFill>
              </a:rPr>
              <a:t>safe fallback</a:t>
            </a:r>
            <a:endParaRPr lang="en-US" sz="1000" dirty="0"/>
          </a:p>
        </p:txBody>
      </p:sp>
      <p:sp>
        <p:nvSpPr>
          <p:cNvPr id="31" name="B · CITIZEN HEAT-REPORT MINING"/>
          <p:cNvSpPr txBox="1"/>
          <p:nvPr/>
        </p:nvSpPr>
        <p:spPr>
          <a:xfrm>
            <a:off x="457200" y="3977640"/>
            <a:ext cx="54864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B · CITIZEN HEAT-REPORT MINING</a:t>
            </a:r>
            <a:endParaRPr lang="en-US" sz="1200" dirty="0"/>
          </a:p>
        </p:txBody>
      </p:sp>
      <p:sp>
        <p:nvSpPr>
          <p:cNvPr id="32" name="Citizen posts box"/>
          <p:cNvSpPr/>
          <p:nvPr/>
        </p:nvSpPr>
        <p:spPr>
          <a:xfrm>
            <a:off x="457200" y="4297680"/>
            <a:ext cx="1673352" cy="868680"/>
          </a:xfrm>
          <a:prstGeom prst="roundRect">
            <a:avLst>
              <a:gd name="adj" fmla="val 8421"/>
            </a:avLst>
          </a:prstGeom>
          <a:solidFill>
            <a:schemeClr val="accent6">
              <a:alpha val="12000"/>
            </a:schemeClr>
          </a:solidFill>
          <a:ln w="15875">
            <a:solidFill>
              <a:schemeClr val="accent6"/>
            </a:solidFill>
            <a:prstDash val="solid"/>
          </a:ln>
        </p:spPr>
      </p:sp>
      <p:sp>
        <p:nvSpPr>
          <p:cNvPr id="33" name="Citizen posts label"/>
          <p:cNvSpPr txBox="1"/>
          <p:nvPr/>
        </p:nvSpPr>
        <p:spPr>
          <a:xfrm>
            <a:off x="512064" y="4297680"/>
            <a:ext cx="1563624" cy="868680"/>
          </a:xfrm>
          <a:prstGeom prst="rect">
            <a:avLst/>
          </a:prstGeom>
          <a:noFill/>
          <a:ln/>
        </p:spPr>
        <p:txBody>
          <a:bodyPr wrap="square" lIns="0" tIns="0" rIns="0" bIns="0" rtlCol="0" anchor="ctr"/>
          <a:lstStyle/>
          <a:p>
            <a:pPr algn="ctr" indent="0" marL="0">
              <a:buNone/>
            </a:pPr>
            <a:r>
              <a:rPr lang="en-US" sz="1200" b="1" dirty="0">
                <a:solidFill>
                  <a:schemeClr val="tx1"/>
                </a:solidFill>
              </a:rPr>
              <a:t>Citizen posts</a:t>
            </a:r>
            <a:endParaRPr lang="en-US" sz="1400" dirty="0"/>
          </a:p>
          <a:p>
            <a:pPr algn="ctr" indent="0" marL="0">
              <a:buNone/>
            </a:pPr>
            <a:r>
              <a:rPr lang="en-US" sz="1050" dirty="0">
                <a:solidFill>
                  <a:schemeClr val="accent6"/>
                </a:solidFill>
              </a:rPr>
              <a:t>English · Hinglish · Devanagari</a:t>
            </a:r>
            <a:endParaRPr lang="en-US" sz="1400" dirty="0"/>
          </a:p>
        </p:txBody>
      </p:sp>
      <p:sp>
        <p:nvSpPr>
          <p:cNvPr id="34" name="Text normaliser box"/>
          <p:cNvSpPr/>
          <p:nvPr/>
        </p:nvSpPr>
        <p:spPr>
          <a:xfrm>
            <a:off x="2381098" y="4297680"/>
            <a:ext cx="1673352" cy="868680"/>
          </a:xfrm>
          <a:prstGeom prst="roundRect">
            <a:avLst>
              <a:gd name="adj" fmla="val 8421"/>
            </a:avLst>
          </a:prstGeom>
          <a:solidFill>
            <a:schemeClr val="accent4">
              <a:alpha val="12000"/>
            </a:schemeClr>
          </a:solidFill>
          <a:ln w="15875">
            <a:solidFill>
              <a:schemeClr val="accent4"/>
            </a:solidFill>
            <a:prstDash val="solid"/>
          </a:ln>
        </p:spPr>
      </p:sp>
      <p:sp>
        <p:nvSpPr>
          <p:cNvPr id="35" name="Text normaliser label"/>
          <p:cNvSpPr txBox="1"/>
          <p:nvPr/>
        </p:nvSpPr>
        <p:spPr>
          <a:xfrm>
            <a:off x="2435962" y="4297680"/>
            <a:ext cx="1563624" cy="868680"/>
          </a:xfrm>
          <a:prstGeom prst="rect">
            <a:avLst/>
          </a:prstGeom>
          <a:noFill/>
          <a:ln/>
        </p:spPr>
        <p:txBody>
          <a:bodyPr wrap="square" lIns="0" tIns="0" rIns="0" bIns="0" rtlCol="0" anchor="ctr"/>
          <a:lstStyle/>
          <a:p>
            <a:pPr algn="ctr" indent="0" marL="0">
              <a:buNone/>
            </a:pPr>
            <a:r>
              <a:rPr lang="en-US" sz="1200" b="1" dirty="0">
                <a:solidFill>
                  <a:schemeClr val="tx1"/>
                </a:solidFill>
              </a:rPr>
              <a:t>Text normaliser</a:t>
            </a:r>
            <a:endParaRPr lang="en-US" sz="1400" dirty="0"/>
          </a:p>
          <a:p>
            <a:pPr algn="ctr" indent="0" marL="0">
              <a:buNone/>
            </a:pPr>
            <a:r>
              <a:rPr lang="en-US" sz="1050" dirty="0">
                <a:solidFill>
                  <a:schemeClr val="accent6"/>
                </a:solidFill>
              </a:rPr>
              <a:t>emoji · Hinglish · #hashtags</a:t>
            </a:r>
            <a:endParaRPr lang="en-US" sz="1400" dirty="0"/>
          </a:p>
        </p:txBody>
      </p:sp>
      <p:sp>
        <p:nvSpPr>
          <p:cNvPr id="36" name="B arrow 1"/>
          <p:cNvSpPr/>
          <p:nvPr/>
        </p:nvSpPr>
        <p:spPr>
          <a:xfrm>
            <a:off x="2130552" y="4732020"/>
            <a:ext cx="250546" cy="0"/>
          </a:xfrm>
          <a:prstGeom prst="line">
            <a:avLst/>
          </a:prstGeom>
          <a:noFill/>
          <a:ln w="19050">
            <a:solidFill>
              <a:schemeClr val="accent6"/>
            </a:solidFill>
            <a:prstDash val="solid"/>
            <a:tailEnd type="triangle"/>
          </a:ln>
        </p:spPr>
      </p:sp>
      <p:sp>
        <p:nvSpPr>
          <p:cNvPr id="37" name="BiLSTM classifier box"/>
          <p:cNvSpPr/>
          <p:nvPr/>
        </p:nvSpPr>
        <p:spPr>
          <a:xfrm>
            <a:off x="4304995" y="4297680"/>
            <a:ext cx="1673352" cy="868680"/>
          </a:xfrm>
          <a:prstGeom prst="roundRect">
            <a:avLst>
              <a:gd name="adj" fmla="val 8421"/>
            </a:avLst>
          </a:prstGeom>
          <a:solidFill>
            <a:schemeClr val="accent3">
              <a:alpha val="12000"/>
            </a:schemeClr>
          </a:solidFill>
          <a:ln w="15875">
            <a:solidFill>
              <a:schemeClr val="accent3"/>
            </a:solidFill>
            <a:prstDash val="solid"/>
          </a:ln>
        </p:spPr>
      </p:sp>
      <p:sp>
        <p:nvSpPr>
          <p:cNvPr id="38" name="BiLSTM classifier label"/>
          <p:cNvSpPr txBox="1"/>
          <p:nvPr/>
        </p:nvSpPr>
        <p:spPr>
          <a:xfrm>
            <a:off x="4359859" y="4297680"/>
            <a:ext cx="1563624" cy="868680"/>
          </a:xfrm>
          <a:prstGeom prst="rect">
            <a:avLst/>
          </a:prstGeom>
          <a:noFill/>
          <a:ln/>
        </p:spPr>
        <p:txBody>
          <a:bodyPr wrap="square" lIns="0" tIns="0" rIns="0" bIns="0" rtlCol="0" anchor="ctr"/>
          <a:lstStyle/>
          <a:p>
            <a:pPr algn="ctr" indent="0" marL="0">
              <a:buNone/>
            </a:pPr>
            <a:r>
              <a:rPr lang="en-US" sz="1200" b="1" dirty="0">
                <a:solidFill>
                  <a:schemeClr val="tx1"/>
                </a:solidFill>
              </a:rPr>
              <a:t>BiLSTM classifier</a:t>
            </a:r>
            <a:endParaRPr lang="en-US" sz="1400" dirty="0"/>
          </a:p>
          <a:p>
            <a:pPr algn="ctr" indent="0" marL="0">
              <a:buNone/>
            </a:pPr>
            <a:r>
              <a:rPr lang="en-US" sz="1050" dirty="0">
                <a:solidFill>
                  <a:schemeClr val="accent6"/>
                </a:solidFill>
              </a:rPr>
              <a:t>heat / emergency / not heat</a:t>
            </a:r>
            <a:endParaRPr lang="en-US" sz="1400" dirty="0"/>
          </a:p>
        </p:txBody>
      </p:sp>
      <p:sp>
        <p:nvSpPr>
          <p:cNvPr id="39" name="B arrow 2"/>
          <p:cNvSpPr/>
          <p:nvPr/>
        </p:nvSpPr>
        <p:spPr>
          <a:xfrm>
            <a:off x="4054450" y="4732020"/>
            <a:ext cx="250546" cy="0"/>
          </a:xfrm>
          <a:prstGeom prst="line">
            <a:avLst/>
          </a:prstGeom>
          <a:noFill/>
          <a:ln w="19050">
            <a:solidFill>
              <a:schemeClr val="accent6"/>
            </a:solidFill>
            <a:prstDash val="solid"/>
            <a:tailEnd type="triangle"/>
          </a:ln>
        </p:spPr>
      </p:sp>
      <p:sp>
        <p:nvSpPr>
          <p:cNvPr id="40" name="Place finder box"/>
          <p:cNvSpPr/>
          <p:nvPr/>
        </p:nvSpPr>
        <p:spPr>
          <a:xfrm>
            <a:off x="6228893" y="4297680"/>
            <a:ext cx="1673352" cy="868680"/>
          </a:xfrm>
          <a:prstGeom prst="roundRect">
            <a:avLst>
              <a:gd name="adj" fmla="val 8421"/>
            </a:avLst>
          </a:prstGeom>
          <a:solidFill>
            <a:schemeClr val="accent4">
              <a:alpha val="12000"/>
            </a:schemeClr>
          </a:solidFill>
          <a:ln w="15875">
            <a:solidFill>
              <a:schemeClr val="accent4"/>
            </a:solidFill>
            <a:prstDash val="solid"/>
          </a:ln>
        </p:spPr>
      </p:sp>
      <p:sp>
        <p:nvSpPr>
          <p:cNvPr id="41" name="Place finder label"/>
          <p:cNvSpPr txBox="1"/>
          <p:nvPr/>
        </p:nvSpPr>
        <p:spPr>
          <a:xfrm>
            <a:off x="6283757" y="4297680"/>
            <a:ext cx="1563624" cy="868680"/>
          </a:xfrm>
          <a:prstGeom prst="rect">
            <a:avLst/>
          </a:prstGeom>
          <a:noFill/>
          <a:ln/>
        </p:spPr>
        <p:txBody>
          <a:bodyPr wrap="square" lIns="0" tIns="0" rIns="0" bIns="0" rtlCol="0" anchor="ctr"/>
          <a:lstStyle/>
          <a:p>
            <a:pPr algn="ctr" indent="0" marL="0">
              <a:buNone/>
            </a:pPr>
            <a:r>
              <a:rPr lang="en-US" sz="1200" b="1" dirty="0">
                <a:solidFill>
                  <a:schemeClr val="tx1"/>
                </a:solidFill>
              </a:rPr>
              <a:t>Place finder</a:t>
            </a:r>
            <a:endParaRPr lang="en-US" sz="1400" dirty="0"/>
          </a:p>
          <a:p>
            <a:pPr algn="ctr" indent="0" marL="0">
              <a:buNone/>
            </a:pPr>
            <a:r>
              <a:rPr lang="en-US" sz="1050" dirty="0">
                <a:solidFill>
                  <a:schemeClr val="accent6"/>
                </a:solidFill>
              </a:rPr>
              <a:t>gazetteer + morphology</a:t>
            </a:r>
            <a:endParaRPr lang="en-US" sz="1400" dirty="0"/>
          </a:p>
        </p:txBody>
      </p:sp>
      <p:sp>
        <p:nvSpPr>
          <p:cNvPr id="42" name="B arrow 3"/>
          <p:cNvSpPr/>
          <p:nvPr/>
        </p:nvSpPr>
        <p:spPr>
          <a:xfrm>
            <a:off x="5978347" y="4732020"/>
            <a:ext cx="250546" cy="0"/>
          </a:xfrm>
          <a:prstGeom prst="line">
            <a:avLst/>
          </a:prstGeom>
          <a:noFill/>
          <a:ln w="19050">
            <a:solidFill>
              <a:schemeClr val="accent6"/>
            </a:solidFill>
            <a:prstDash val="solid"/>
            <a:tailEnd type="triangle"/>
          </a:ln>
        </p:spPr>
      </p:sp>
      <p:sp>
        <p:nvSpPr>
          <p:cNvPr id="43" name="Forecast vs citizens box"/>
          <p:cNvSpPr/>
          <p:nvPr/>
        </p:nvSpPr>
        <p:spPr>
          <a:xfrm>
            <a:off x="8152790" y="4297680"/>
            <a:ext cx="1673352" cy="868680"/>
          </a:xfrm>
          <a:prstGeom prst="roundRect">
            <a:avLst>
              <a:gd name="adj" fmla="val 8421"/>
            </a:avLst>
          </a:prstGeom>
          <a:solidFill>
            <a:schemeClr val="accent5">
              <a:alpha val="12000"/>
            </a:schemeClr>
          </a:solidFill>
          <a:ln w="15875">
            <a:solidFill>
              <a:schemeClr val="accent5"/>
            </a:solidFill>
            <a:prstDash val="solid"/>
          </a:ln>
        </p:spPr>
      </p:sp>
      <p:sp>
        <p:nvSpPr>
          <p:cNvPr id="44" name="Forecast vs citizens label"/>
          <p:cNvSpPr txBox="1"/>
          <p:nvPr/>
        </p:nvSpPr>
        <p:spPr>
          <a:xfrm>
            <a:off x="8207654" y="4297680"/>
            <a:ext cx="1563624" cy="868680"/>
          </a:xfrm>
          <a:prstGeom prst="rect">
            <a:avLst/>
          </a:prstGeom>
          <a:noFill/>
          <a:ln/>
        </p:spPr>
        <p:txBody>
          <a:bodyPr wrap="square" lIns="0" tIns="0" rIns="0" bIns="0" rtlCol="0" anchor="ctr"/>
          <a:lstStyle/>
          <a:p>
            <a:pPr algn="ctr" indent="0" marL="0">
              <a:buNone/>
            </a:pPr>
            <a:r>
              <a:rPr lang="en-US" sz="1200" b="1" dirty="0">
                <a:solidFill>
                  <a:schemeClr val="tx1"/>
                </a:solidFill>
              </a:rPr>
              <a:t>Forecast vs citizens</a:t>
            </a:r>
            <a:endParaRPr lang="en-US" sz="1400" dirty="0"/>
          </a:p>
          <a:p>
            <a:pPr algn="ctr" indent="0" marL="0">
              <a:buNone/>
            </a:pPr>
            <a:r>
              <a:rPr lang="en-US" sz="1050" dirty="0">
                <a:solidFill>
                  <a:schemeClr val="accent6"/>
                </a:solidFill>
              </a:rPr>
              <a:t>corroborate or flag</a:t>
            </a:r>
            <a:endParaRPr lang="en-US" sz="1400" dirty="0"/>
          </a:p>
        </p:txBody>
      </p:sp>
      <p:sp>
        <p:nvSpPr>
          <p:cNvPr id="45" name="B arrow 4"/>
          <p:cNvSpPr/>
          <p:nvPr/>
        </p:nvSpPr>
        <p:spPr>
          <a:xfrm>
            <a:off x="7902245" y="4732020"/>
            <a:ext cx="250546" cy="0"/>
          </a:xfrm>
          <a:prstGeom prst="line">
            <a:avLst/>
          </a:prstGeom>
          <a:noFill/>
          <a:ln w="19050">
            <a:solidFill>
              <a:schemeClr val="accent6"/>
            </a:solidFill>
            <a:prstDash val="solid"/>
            <a:tailEnd type="triangle"/>
          </a:ln>
        </p:spPr>
      </p:sp>
      <p:sp>
        <p:nvSpPr>
          <p:cNvPr id="46" name="Validation flags box"/>
          <p:cNvSpPr/>
          <p:nvPr/>
        </p:nvSpPr>
        <p:spPr>
          <a:xfrm>
            <a:off x="10076688" y="4297680"/>
            <a:ext cx="1673352" cy="868680"/>
          </a:xfrm>
          <a:prstGeom prst="roundRect">
            <a:avLst>
              <a:gd name="adj" fmla="val 8421"/>
            </a:avLst>
          </a:prstGeom>
          <a:solidFill>
            <a:schemeClr val="accent6">
              <a:alpha val="12000"/>
            </a:schemeClr>
          </a:solidFill>
          <a:ln w="15875">
            <a:solidFill>
              <a:schemeClr val="accent6"/>
            </a:solidFill>
            <a:prstDash val="solid"/>
          </a:ln>
        </p:spPr>
      </p:sp>
      <p:sp>
        <p:nvSpPr>
          <p:cNvPr id="47" name="Validation flags label"/>
          <p:cNvSpPr txBox="1"/>
          <p:nvPr/>
        </p:nvSpPr>
        <p:spPr>
          <a:xfrm>
            <a:off x="10131552" y="4297680"/>
            <a:ext cx="1563624" cy="868680"/>
          </a:xfrm>
          <a:prstGeom prst="rect">
            <a:avLst/>
          </a:prstGeom>
          <a:noFill/>
          <a:ln/>
        </p:spPr>
        <p:txBody>
          <a:bodyPr wrap="square" lIns="0" tIns="0" rIns="0" bIns="0" rtlCol="0" anchor="ctr"/>
          <a:lstStyle/>
          <a:p>
            <a:pPr algn="ctr" indent="0" marL="0">
              <a:buNone/>
            </a:pPr>
            <a:r>
              <a:rPr lang="en-US" sz="1200" b="1" dirty="0">
                <a:solidFill>
                  <a:schemeClr val="tx1"/>
                </a:solidFill>
              </a:rPr>
              <a:t>Validation flags</a:t>
            </a:r>
            <a:endParaRPr lang="en-US" sz="1400" dirty="0"/>
          </a:p>
          <a:p>
            <a:pPr algn="ctr" indent="0" marL="0">
              <a:buNone/>
            </a:pPr>
            <a:r>
              <a:rPr lang="en-US" sz="1050" dirty="0">
                <a:solidFill>
                  <a:schemeClr val="accent6"/>
                </a:solidFill>
              </a:rPr>
              <a:t>→ check AWS data</a:t>
            </a:r>
            <a:endParaRPr lang="en-US" sz="1400" dirty="0"/>
          </a:p>
        </p:txBody>
      </p:sp>
      <p:sp>
        <p:nvSpPr>
          <p:cNvPr id="48" name="B arrow 5"/>
          <p:cNvSpPr/>
          <p:nvPr/>
        </p:nvSpPr>
        <p:spPr>
          <a:xfrm>
            <a:off x="9826142" y="4732020"/>
            <a:ext cx="250546" cy="0"/>
          </a:xfrm>
          <a:prstGeom prst="line">
            <a:avLst/>
          </a:prstGeom>
          <a:noFill/>
          <a:ln w="19050">
            <a:solidFill>
              <a:schemeClr val="accent6"/>
            </a:solidFill>
            <a:prstDash val="solid"/>
            <a:tailEnd type="triangle"/>
          </a:ln>
        </p:spPr>
      </p:sp>
      <p:sp>
        <p:nvSpPr>
          <p:cNvPr id="49" name="severity down"/>
          <p:cNvSpPr/>
          <p:nvPr/>
        </p:nvSpPr>
        <p:spPr>
          <a:xfrm>
            <a:off x="4457700" y="3017520"/>
            <a:ext cx="0" cy="841248"/>
          </a:xfrm>
          <a:prstGeom prst="line">
            <a:avLst/>
          </a:prstGeom>
          <a:noFill/>
          <a:ln w="19050">
            <a:solidFill>
              <a:schemeClr val="accent4"/>
            </a:solidFill>
            <a:prstDash val="dash"/>
          </a:ln>
        </p:spPr>
      </p:sp>
      <p:sp>
        <p:nvSpPr>
          <p:cNvPr id="50" name="severity across"/>
          <p:cNvSpPr/>
          <p:nvPr/>
        </p:nvSpPr>
        <p:spPr>
          <a:xfrm>
            <a:off x="4457700" y="3858768"/>
            <a:ext cx="4531766" cy="0"/>
          </a:xfrm>
          <a:prstGeom prst="line">
            <a:avLst/>
          </a:prstGeom>
          <a:noFill/>
          <a:ln w="19050">
            <a:solidFill>
              <a:schemeClr val="accent4"/>
            </a:solidFill>
            <a:prstDash val="dash"/>
          </a:ln>
        </p:spPr>
      </p:sp>
      <p:sp>
        <p:nvSpPr>
          <p:cNvPr id="51" name="severity into comparison"/>
          <p:cNvSpPr/>
          <p:nvPr/>
        </p:nvSpPr>
        <p:spPr>
          <a:xfrm>
            <a:off x="8989466" y="3858768"/>
            <a:ext cx="0" cy="438912"/>
          </a:xfrm>
          <a:prstGeom prst="line">
            <a:avLst/>
          </a:prstGeom>
          <a:noFill/>
          <a:ln w="19050">
            <a:solidFill>
              <a:schemeClr val="accent4"/>
            </a:solidFill>
            <a:prstDash val="dash"/>
            <a:tailEnd type="triangle"/>
          </a:ln>
        </p:spPr>
      </p:sp>
      <p:sp>
        <p:nvSpPr>
          <p:cNvPr id="52" name="severity label"/>
          <p:cNvSpPr txBox="1"/>
          <p:nvPr/>
        </p:nvSpPr>
        <p:spPr>
          <a:xfrm>
            <a:off x="6995160" y="3657600"/>
            <a:ext cx="1828800" cy="182880"/>
          </a:xfrm>
          <a:prstGeom prst="rect">
            <a:avLst/>
          </a:prstGeom>
          <a:noFill/>
          <a:ln/>
        </p:spPr>
        <p:txBody>
          <a:bodyPr wrap="square" lIns="0" tIns="0" rIns="0" bIns="0" rtlCol="0" anchor="t"/>
          <a:lstStyle/>
          <a:p>
            <a:pPr indent="0" marL="0">
              <a:buNone/>
            </a:pPr>
            <a:r>
              <a:rPr lang="en-US" sz="1000" i="1" dirty="0">
                <a:solidFill>
                  <a:schemeClr val="accent4"/>
                </a:solidFill>
              </a:rPr>
              <a:t>forecast severity per place</a:t>
            </a:r>
            <a:endParaRPr lang="en-US" sz="1000" dirty="0"/>
          </a:p>
        </p:txBody>
      </p:sp>
      <p:sp>
        <p:nvSpPr>
          <p:cNvPr id="53" name="Learned model swatch"/>
          <p:cNvSpPr/>
          <p:nvPr/>
        </p:nvSpPr>
        <p:spPr>
          <a:xfrm>
            <a:off x="457200" y="5468112"/>
            <a:ext cx="256032" cy="182880"/>
          </a:xfrm>
          <a:prstGeom prst="roundRect">
            <a:avLst>
              <a:gd name="adj" fmla="val 20000"/>
            </a:avLst>
          </a:prstGeom>
          <a:solidFill>
            <a:schemeClr val="accent3">
              <a:alpha val="12000"/>
            </a:schemeClr>
          </a:solidFill>
          <a:ln w="15875">
            <a:solidFill>
              <a:schemeClr val="accent3"/>
            </a:solidFill>
            <a:prstDash val="solid"/>
          </a:ln>
        </p:spPr>
      </p:sp>
      <p:sp>
        <p:nvSpPr>
          <p:cNvPr id="54" name="Learned model legend"/>
          <p:cNvSpPr txBox="1"/>
          <p:nvPr/>
        </p:nvSpPr>
        <p:spPr>
          <a:xfrm>
            <a:off x="804672" y="5422392"/>
            <a:ext cx="2377440" cy="274320"/>
          </a:xfrm>
          <a:prstGeom prst="rect">
            <a:avLst/>
          </a:prstGeom>
          <a:noFill/>
          <a:ln/>
        </p:spPr>
        <p:txBody>
          <a:bodyPr wrap="square" lIns="0" tIns="0" rIns="0" bIns="0" rtlCol="0" anchor="ctr"/>
          <a:lstStyle/>
          <a:p>
            <a:pPr indent="0" marL="0">
              <a:buNone/>
            </a:pPr>
            <a:r>
              <a:rPr lang="en-US" sz="1200" dirty="0">
                <a:solidFill>
                  <a:schemeClr val="accent6"/>
                </a:solidFill>
              </a:rPr>
              <a:t>Learned model</a:t>
            </a:r>
            <a:endParaRPr lang="en-US" sz="1200" dirty="0"/>
          </a:p>
        </p:txBody>
      </p:sp>
      <p:sp>
        <p:nvSpPr>
          <p:cNvPr id="55" name="Rules &amp; lexical knowledge swatch"/>
          <p:cNvSpPr/>
          <p:nvPr/>
        </p:nvSpPr>
        <p:spPr>
          <a:xfrm>
            <a:off x="3291840" y="5468112"/>
            <a:ext cx="256032" cy="182880"/>
          </a:xfrm>
          <a:prstGeom prst="roundRect">
            <a:avLst>
              <a:gd name="adj" fmla="val 20000"/>
            </a:avLst>
          </a:prstGeom>
          <a:solidFill>
            <a:schemeClr val="accent4">
              <a:alpha val="12000"/>
            </a:schemeClr>
          </a:solidFill>
          <a:ln w="15875">
            <a:solidFill>
              <a:schemeClr val="accent4"/>
            </a:solidFill>
            <a:prstDash val="solid"/>
          </a:ln>
        </p:spPr>
      </p:sp>
      <p:sp>
        <p:nvSpPr>
          <p:cNvPr id="56" name="Rules &amp;amp; lexical knowledge legend"/>
          <p:cNvSpPr txBox="1"/>
          <p:nvPr/>
        </p:nvSpPr>
        <p:spPr>
          <a:xfrm>
            <a:off x="3639312" y="5422392"/>
            <a:ext cx="2377440" cy="274320"/>
          </a:xfrm>
          <a:prstGeom prst="rect">
            <a:avLst/>
          </a:prstGeom>
          <a:noFill/>
          <a:ln/>
        </p:spPr>
        <p:txBody>
          <a:bodyPr wrap="square" lIns="0" tIns="0" rIns="0" bIns="0" rtlCol="0" anchor="ctr"/>
          <a:lstStyle/>
          <a:p>
            <a:pPr indent="0" marL="0">
              <a:buNone/>
            </a:pPr>
            <a:r>
              <a:rPr lang="en-US" sz="1200" dirty="0">
                <a:solidFill>
                  <a:schemeClr val="accent6"/>
                </a:solidFill>
              </a:rPr>
              <a:t>Rules &amp; lexical knowledge</a:t>
            </a:r>
            <a:endParaRPr lang="en-US" sz="1200" dirty="0"/>
          </a:p>
        </p:txBody>
      </p:sp>
      <p:sp>
        <p:nvSpPr>
          <p:cNvPr id="57" name="Responsible AI / human review swatch"/>
          <p:cNvSpPr/>
          <p:nvPr/>
        </p:nvSpPr>
        <p:spPr>
          <a:xfrm>
            <a:off x="6126480" y="5468112"/>
            <a:ext cx="256032" cy="182880"/>
          </a:xfrm>
          <a:prstGeom prst="roundRect">
            <a:avLst>
              <a:gd name="adj" fmla="val 20000"/>
            </a:avLst>
          </a:prstGeom>
          <a:solidFill>
            <a:schemeClr val="accent5">
              <a:alpha val="12000"/>
            </a:schemeClr>
          </a:solidFill>
          <a:ln w="15875">
            <a:solidFill>
              <a:schemeClr val="accent5"/>
            </a:solidFill>
            <a:prstDash val="solid"/>
          </a:ln>
        </p:spPr>
      </p:sp>
      <p:sp>
        <p:nvSpPr>
          <p:cNvPr id="58" name="Responsible AI / human review legend"/>
          <p:cNvSpPr txBox="1"/>
          <p:nvPr/>
        </p:nvSpPr>
        <p:spPr>
          <a:xfrm>
            <a:off x="6473952" y="5422392"/>
            <a:ext cx="2377440" cy="274320"/>
          </a:xfrm>
          <a:prstGeom prst="rect">
            <a:avLst/>
          </a:prstGeom>
          <a:noFill/>
          <a:ln/>
        </p:spPr>
        <p:txBody>
          <a:bodyPr wrap="square" lIns="0" tIns="0" rIns="0" bIns="0" rtlCol="0" anchor="ctr"/>
          <a:lstStyle/>
          <a:p>
            <a:pPr indent="0" marL="0">
              <a:buNone/>
            </a:pPr>
            <a:r>
              <a:rPr lang="en-US" sz="1200" dirty="0">
                <a:solidFill>
                  <a:schemeClr val="accent6"/>
                </a:solidFill>
              </a:rPr>
              <a:t>Responsible AI / human review</a:t>
            </a:r>
            <a:endParaRPr lang="en-US" sz="1200" dirty="0"/>
          </a:p>
        </p:txBody>
      </p:sp>
      <p:sp>
        <p:nvSpPr>
          <p:cNvPr id="59" name="Data / output swatch"/>
          <p:cNvSpPr/>
          <p:nvPr/>
        </p:nvSpPr>
        <p:spPr>
          <a:xfrm>
            <a:off x="8961120" y="5468112"/>
            <a:ext cx="256032" cy="182880"/>
          </a:xfrm>
          <a:prstGeom prst="roundRect">
            <a:avLst>
              <a:gd name="adj" fmla="val 20000"/>
            </a:avLst>
          </a:prstGeom>
          <a:solidFill>
            <a:schemeClr val="accent6">
              <a:alpha val="12000"/>
            </a:schemeClr>
          </a:solidFill>
          <a:ln w="15875">
            <a:solidFill>
              <a:schemeClr val="accent6"/>
            </a:solidFill>
            <a:prstDash val="solid"/>
          </a:ln>
        </p:spPr>
      </p:sp>
      <p:sp>
        <p:nvSpPr>
          <p:cNvPr id="60" name="Data / output legend"/>
          <p:cNvSpPr txBox="1"/>
          <p:nvPr/>
        </p:nvSpPr>
        <p:spPr>
          <a:xfrm>
            <a:off x="9308592" y="5422392"/>
            <a:ext cx="2377440" cy="274320"/>
          </a:xfrm>
          <a:prstGeom prst="rect">
            <a:avLst/>
          </a:prstGeom>
          <a:noFill/>
          <a:ln/>
        </p:spPr>
        <p:txBody>
          <a:bodyPr wrap="square" lIns="0" tIns="0" rIns="0" bIns="0" rtlCol="0" anchor="ctr"/>
          <a:lstStyle/>
          <a:p>
            <a:pPr indent="0" marL="0">
              <a:buNone/>
            </a:pPr>
            <a:r>
              <a:rPr lang="en-US" sz="1200" dirty="0">
                <a:solidFill>
                  <a:schemeClr val="accent6"/>
                </a:solidFill>
              </a:rPr>
              <a:t>Data / output</a:t>
            </a:r>
            <a:endParaRPr lang="en-US" sz="1200" dirty="0"/>
          </a:p>
        </p:txBody>
      </p:sp>
      <p:sp>
        <p:nvSpPr>
          <p:cNvPr id="61" name="design note"/>
          <p:cNvSpPr txBox="1"/>
          <p:nvPr/>
        </p:nvSpPr>
        <p:spPr>
          <a:xfrm>
            <a:off x="457200" y="5833872"/>
            <a:ext cx="11274552" cy="320040"/>
          </a:xfrm>
          <a:prstGeom prst="rect">
            <a:avLst/>
          </a:prstGeom>
          <a:noFill/>
          <a:ln/>
        </p:spPr>
        <p:txBody>
          <a:bodyPr wrap="square" lIns="0" tIns="0" rIns="0" bIns="0" rtlCol="0" anchor="t"/>
          <a:lstStyle/>
          <a:p>
            <a:pPr indent="0" marL="0">
              <a:buNone/>
            </a:pPr>
            <a:r>
              <a:rPr lang="en-US" sz="1200" i="1" dirty="0">
                <a:solidFill>
                  <a:schemeClr val="accent6"/>
                </a:solidFill>
              </a:rPr>
              <a:t>Design choice: severity is decided by auditable IMD rules; the neural model only writes the words, and real values are filled in from the data.</a:t>
            </a:r>
            <a:endParaRPr lang="en-US" sz="1200" dirty="0"/>
          </a:p>
        </p:txBody>
      </p:sp>
      <p:sp>
        <p:nvSpPr>
          <p:cNvPr id="25" name="Slide Number Placeholder 0"/>
          <p:cNvSpPr>
            <a:spLocks noGrp="1"/>
          </p:cNvSpPr>
          <p:nvPr>
            <p:ph type="sldNum" sz="quarter" idx="4294967295"/>
          </p:nvPr>
        </p:nvSpPr>
        <p:spPr>
          <a:xfrm>
            <a:off x="11091672" y="6537960"/>
            <a:ext cx="64008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1"/>
                </a:solidFill>
                <a:latin typeface="Arial"/>
                <a:ea typeface="Arial"/>
                <a:cs typeface="Arial"/>
              </a:defRPr>
            </a:lvl1pPr>
          </a:lstStyle>
          <a:p>
            <a:pPr algn="ct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4" type="title" hasCustomPrompt="1"/>
          </p:nvPr>
        </p:nvSpPr>
        <p:spPr>
          <a:xfrm>
            <a:off x="457200" y="1097280"/>
            <a:ext cx="10332720" cy="640080"/>
          </a:xfrm>
          <a:prstGeom prst="rect">
            <a:avLst/>
          </a:prstGeom>
          <a:noFill/>
          <a:ln/>
        </p:spPr>
        <p:txBody>
          <a:bodyPr wrap="square" lIns="0" tIns="0" rIns="0" bIns="0" rtlCol="0" anchor="ctr"/>
          <a:lstStyle/>
          <a:p>
            <a:pPr algn="l" indent="0" marL="0">
              <a:buNone/>
            </a:pPr>
            <a:r>
              <a:rPr lang="en-US" sz="3000" b="1" dirty="0">
                <a:solidFill>
                  <a:schemeClr val="tx2"/>
                </a:solidFill>
              </a:rPr>
              <a:t>End-to-end flow: one bulletin line to twelve advisories</a:t>
            </a:r>
            <a:endParaRPr lang="en-US" sz="3000" dirty="0"/>
          </a:p>
        </p:txBody>
      </p:sp>
      <p:sp>
        <p:nvSpPr>
          <p:cNvPr id="3" name="1  Read bulletin step"/>
          <p:cNvSpPr/>
          <p:nvPr/>
        </p:nvSpPr>
        <p:spPr>
          <a:xfrm>
            <a:off x="457200" y="1874520"/>
            <a:ext cx="2212848" cy="548640"/>
          </a:xfrm>
          <a:prstGeom prst="homePlate">
            <a:avLst/>
          </a:prstGeom>
          <a:solidFill>
            <a:schemeClr val="accent1"/>
          </a:solidFill>
          <a:ln/>
        </p:spPr>
      </p:sp>
      <p:sp>
        <p:nvSpPr>
          <p:cNvPr id="4" name="1  Read bulletin label"/>
          <p:cNvSpPr txBox="1"/>
          <p:nvPr/>
        </p:nvSpPr>
        <p:spPr>
          <a:xfrm>
            <a:off x="594360" y="1874520"/>
            <a:ext cx="1691640" cy="548640"/>
          </a:xfrm>
          <a:prstGeom prst="rect">
            <a:avLst/>
          </a:prstGeom>
          <a:noFill/>
          <a:ln/>
        </p:spPr>
        <p:txBody>
          <a:bodyPr wrap="square" lIns="0" tIns="0" rIns="0" bIns="0" rtlCol="0" anchor="ctr"/>
          <a:lstStyle/>
          <a:p>
            <a:pPr indent="0" marL="0">
              <a:buNone/>
            </a:pPr>
            <a:r>
              <a:rPr lang="en-US" sz="1400" b="1" dirty="0">
                <a:solidFill>
                  <a:schemeClr val="bg1"/>
                </a:solidFill>
              </a:rPr>
              <a:t>1  Read bulletin</a:t>
            </a:r>
            <a:endParaRPr lang="en-US" sz="1400" dirty="0"/>
          </a:p>
        </p:txBody>
      </p:sp>
      <p:sp>
        <p:nvSpPr>
          <p:cNvPr id="5" name="1  Read bulletin example card"/>
          <p:cNvSpPr/>
          <p:nvPr/>
        </p:nvSpPr>
        <p:spPr>
          <a:xfrm>
            <a:off x="457200" y="2606040"/>
            <a:ext cx="2103120" cy="1463040"/>
          </a:xfrm>
          <a:prstGeom prst="roundRect">
            <a:avLst>
              <a:gd name="adj" fmla="val 5000"/>
            </a:avLst>
          </a:prstGeom>
          <a:solidFill>
            <a:schemeClr val="bg2"/>
          </a:solidFill>
          <a:ln/>
        </p:spPr>
      </p:sp>
      <p:sp>
        <p:nvSpPr>
          <p:cNvPr id="6" name="1  Read bulletin example"/>
          <p:cNvSpPr txBox="1"/>
          <p:nvPr/>
        </p:nvSpPr>
        <p:spPr>
          <a:xfrm>
            <a:off x="594360" y="2697480"/>
            <a:ext cx="1828800" cy="1280160"/>
          </a:xfrm>
          <a:prstGeom prst="rect">
            <a:avLst/>
          </a:prstGeom>
          <a:noFill/>
          <a:ln/>
        </p:spPr>
        <p:txBody>
          <a:bodyPr wrap="square" lIns="0" tIns="0" rIns="0" bIns="0" rtlCol="0" anchor="ctr"/>
          <a:lstStyle/>
          <a:p>
            <a:pPr indent="0" marL="0">
              <a:buNone/>
            </a:pPr>
            <a:r>
              <a:rPr lang="en-US" sz="1250" i="1" dirty="0">
                <a:solidFill>
                  <a:schemeClr val="tx1"/>
                </a:solidFill>
              </a:rPr>
              <a:t>“The highest maximum temperature of 47.6 °C was recorded at Chandrapur on 18th May.”</a:t>
            </a:r>
            <a:endParaRPr lang="en-US" sz="1250" dirty="0"/>
          </a:p>
        </p:txBody>
      </p:sp>
      <p:sp>
        <p:nvSpPr>
          <p:cNvPr id="7" name="1  Read bulletin caption"/>
          <p:cNvSpPr txBox="1"/>
          <p:nvPr/>
        </p:nvSpPr>
        <p:spPr>
          <a:xfrm>
            <a:off x="457200" y="4133088"/>
            <a:ext cx="2103120" cy="365760"/>
          </a:xfrm>
          <a:prstGeom prst="rect">
            <a:avLst/>
          </a:prstGeom>
          <a:noFill/>
          <a:ln/>
        </p:spPr>
        <p:txBody>
          <a:bodyPr wrap="square" lIns="0" tIns="0" rIns="0" bIns="0" rtlCol="0" anchor="t"/>
          <a:lstStyle/>
          <a:p>
            <a:pPr indent="0" marL="0">
              <a:buNone/>
            </a:pPr>
            <a:r>
              <a:rPr lang="en-US" sz="1050" dirty="0">
                <a:solidFill>
                  <a:schemeClr val="accent6"/>
                </a:solidFill>
              </a:rPr>
              <a:t>Input: IMD bulletin text</a:t>
            </a:r>
            <a:endParaRPr lang="en-US" sz="1050" dirty="0"/>
          </a:p>
        </p:txBody>
      </p:sp>
      <p:sp>
        <p:nvSpPr>
          <p:cNvPr id="8" name="2  Extract facts step"/>
          <p:cNvSpPr/>
          <p:nvPr/>
        </p:nvSpPr>
        <p:spPr>
          <a:xfrm>
            <a:off x="2743200" y="1874520"/>
            <a:ext cx="2212848" cy="548640"/>
          </a:xfrm>
          <a:prstGeom prst="chevron">
            <a:avLst/>
          </a:prstGeom>
          <a:solidFill>
            <a:schemeClr val="accent1"/>
          </a:solidFill>
          <a:ln/>
        </p:spPr>
      </p:sp>
      <p:sp>
        <p:nvSpPr>
          <p:cNvPr id="9" name="2  Extract facts label"/>
          <p:cNvSpPr txBox="1"/>
          <p:nvPr/>
        </p:nvSpPr>
        <p:spPr>
          <a:xfrm>
            <a:off x="3017520" y="1874520"/>
            <a:ext cx="1691640" cy="548640"/>
          </a:xfrm>
          <a:prstGeom prst="rect">
            <a:avLst/>
          </a:prstGeom>
          <a:noFill/>
          <a:ln/>
        </p:spPr>
        <p:txBody>
          <a:bodyPr wrap="square" lIns="0" tIns="0" rIns="0" bIns="0" rtlCol="0" anchor="ctr"/>
          <a:lstStyle/>
          <a:p>
            <a:pPr indent="0" marL="0">
              <a:buNone/>
            </a:pPr>
            <a:r>
              <a:rPr lang="en-US" sz="1400" b="1" dirty="0">
                <a:solidFill>
                  <a:schemeClr val="bg1"/>
                </a:solidFill>
              </a:rPr>
              <a:t>2  Extract facts</a:t>
            </a:r>
            <a:endParaRPr lang="en-US" sz="1400" dirty="0"/>
          </a:p>
        </p:txBody>
      </p:sp>
      <p:sp>
        <p:nvSpPr>
          <p:cNvPr id="10" name="2  Extract facts example card"/>
          <p:cNvSpPr/>
          <p:nvPr/>
        </p:nvSpPr>
        <p:spPr>
          <a:xfrm>
            <a:off x="2743200" y="2606040"/>
            <a:ext cx="2103120" cy="1463040"/>
          </a:xfrm>
          <a:prstGeom prst="roundRect">
            <a:avLst>
              <a:gd name="adj" fmla="val 5000"/>
            </a:avLst>
          </a:prstGeom>
          <a:solidFill>
            <a:schemeClr val="bg2"/>
          </a:solidFill>
          <a:ln/>
        </p:spPr>
      </p:sp>
      <p:sp>
        <p:nvSpPr>
          <p:cNvPr id="11" name="2  Extract facts example"/>
          <p:cNvSpPr txBox="1"/>
          <p:nvPr/>
        </p:nvSpPr>
        <p:spPr>
          <a:xfrm>
            <a:off x="2880360" y="2697480"/>
            <a:ext cx="1828800" cy="1280160"/>
          </a:xfrm>
          <a:prstGeom prst="rect">
            <a:avLst/>
          </a:prstGeom>
          <a:noFill/>
          <a:ln/>
        </p:spPr>
        <p:txBody>
          <a:bodyPr wrap="square" lIns="0" tIns="0" rIns="0" bIns="0" rtlCol="0" anchor="ctr"/>
          <a:lstStyle/>
          <a:p>
            <a:pPr indent="0" marL="0">
              <a:buNone/>
            </a:pPr>
            <a:r>
              <a:rPr lang="en-US" sz="1250" dirty="0">
                <a:solidFill>
                  <a:schemeClr val="tx1"/>
                </a:solidFill>
              </a:rPr>
              <a:t>LOC   Chandrapur</a:t>
            </a:r>
            <a:endParaRPr lang="en-US" sz="1250" dirty="0"/>
          </a:p>
          <a:p>
            <a:pPr indent="0" marL="0">
              <a:buNone/>
            </a:pPr>
            <a:r>
              <a:rPr lang="en-US" sz="1250" dirty="0">
                <a:solidFill>
                  <a:schemeClr val="tx1"/>
                </a:solidFill>
              </a:rPr>
              <a:t>TEMP  47.6 °C</a:t>
            </a:r>
            <a:endParaRPr lang="en-US" sz="1250" dirty="0"/>
          </a:p>
          <a:p>
            <a:pPr indent="0" marL="0">
              <a:buNone/>
            </a:pPr>
            <a:r>
              <a:rPr lang="en-US" sz="1250" dirty="0">
                <a:solidFill>
                  <a:schemeClr val="tx1"/>
                </a:solidFill>
              </a:rPr>
              <a:t>DATE  18 May</a:t>
            </a:r>
            <a:endParaRPr lang="en-US" sz="1250" dirty="0"/>
          </a:p>
        </p:txBody>
      </p:sp>
      <p:sp>
        <p:nvSpPr>
          <p:cNvPr id="12" name="2  Extract facts caption"/>
          <p:cNvSpPr txBox="1"/>
          <p:nvPr/>
        </p:nvSpPr>
        <p:spPr>
          <a:xfrm>
            <a:off x="2743200" y="4133088"/>
            <a:ext cx="2103120" cy="365760"/>
          </a:xfrm>
          <a:prstGeom prst="rect">
            <a:avLst/>
          </a:prstGeom>
          <a:noFill/>
          <a:ln/>
        </p:spPr>
        <p:txBody>
          <a:bodyPr wrap="square" lIns="0" tIns="0" rIns="0" bIns="0" rtlCol="0" anchor="t"/>
          <a:lstStyle/>
          <a:p>
            <a:pPr indent="0" marL="0">
              <a:buNone/>
            </a:pPr>
            <a:r>
              <a:rPr lang="en-US" sz="1050" dirty="0">
                <a:solidFill>
                  <a:schemeClr val="accent6"/>
                </a:solidFill>
              </a:rPr>
              <a:t>CRF NER · Unit 2.3</a:t>
            </a:r>
            <a:endParaRPr lang="en-US" sz="1050" dirty="0"/>
          </a:p>
        </p:txBody>
      </p:sp>
      <p:sp>
        <p:nvSpPr>
          <p:cNvPr id="13" name="3  Apply IMD rules step"/>
          <p:cNvSpPr/>
          <p:nvPr/>
        </p:nvSpPr>
        <p:spPr>
          <a:xfrm>
            <a:off x="5029200" y="1874520"/>
            <a:ext cx="2212848" cy="548640"/>
          </a:xfrm>
          <a:prstGeom prst="chevron">
            <a:avLst/>
          </a:prstGeom>
          <a:solidFill>
            <a:schemeClr val="accent1"/>
          </a:solidFill>
          <a:ln/>
        </p:spPr>
      </p:sp>
      <p:sp>
        <p:nvSpPr>
          <p:cNvPr id="14" name="3  Apply IMD rules label"/>
          <p:cNvSpPr txBox="1"/>
          <p:nvPr/>
        </p:nvSpPr>
        <p:spPr>
          <a:xfrm>
            <a:off x="5303520" y="1874520"/>
            <a:ext cx="1691640" cy="548640"/>
          </a:xfrm>
          <a:prstGeom prst="rect">
            <a:avLst/>
          </a:prstGeom>
          <a:noFill/>
          <a:ln/>
        </p:spPr>
        <p:txBody>
          <a:bodyPr wrap="square" lIns="0" tIns="0" rIns="0" bIns="0" rtlCol="0" anchor="ctr"/>
          <a:lstStyle/>
          <a:p>
            <a:pPr indent="0" marL="0">
              <a:buNone/>
            </a:pPr>
            <a:r>
              <a:rPr lang="en-US" sz="1400" b="1" dirty="0">
                <a:solidFill>
                  <a:schemeClr val="bg1"/>
                </a:solidFill>
              </a:rPr>
              <a:t>3  Apply IMD rules</a:t>
            </a:r>
            <a:endParaRPr lang="en-US" sz="1400" dirty="0"/>
          </a:p>
        </p:txBody>
      </p:sp>
      <p:sp>
        <p:nvSpPr>
          <p:cNvPr id="15" name="3  Apply IMD rules example card"/>
          <p:cNvSpPr/>
          <p:nvPr/>
        </p:nvSpPr>
        <p:spPr>
          <a:xfrm>
            <a:off x="5029200" y="2606040"/>
            <a:ext cx="2103120" cy="1463040"/>
          </a:xfrm>
          <a:prstGeom prst="roundRect">
            <a:avLst>
              <a:gd name="adj" fmla="val 5000"/>
            </a:avLst>
          </a:prstGeom>
          <a:solidFill>
            <a:schemeClr val="bg2"/>
          </a:solidFill>
          <a:ln/>
        </p:spPr>
      </p:sp>
      <p:sp>
        <p:nvSpPr>
          <p:cNvPr id="16" name="3  Apply IMD rules example"/>
          <p:cNvSpPr txBox="1"/>
          <p:nvPr/>
        </p:nvSpPr>
        <p:spPr>
          <a:xfrm>
            <a:off x="5166360" y="2697480"/>
            <a:ext cx="1828800" cy="1280160"/>
          </a:xfrm>
          <a:prstGeom prst="rect">
            <a:avLst/>
          </a:prstGeom>
          <a:noFill/>
          <a:ln/>
        </p:spPr>
        <p:txBody>
          <a:bodyPr wrap="square" lIns="0" tIns="0" rIns="0" bIns="0" rtlCol="0" anchor="ctr"/>
          <a:lstStyle/>
          <a:p>
            <a:pPr indent="0" marL="0">
              <a:buNone/>
            </a:pPr>
            <a:r>
              <a:rPr lang="en-US" sz="1250" dirty="0">
                <a:solidFill>
                  <a:schemeClr val="tx1"/>
                </a:solidFill>
              </a:rPr>
              <a:t>Plains station,</a:t>
            </a:r>
            <a:endParaRPr lang="en-US" sz="1250" dirty="0"/>
          </a:p>
          <a:p>
            <a:pPr indent="0" marL="0">
              <a:buNone/>
            </a:pPr>
            <a:r>
              <a:rPr lang="en-US" sz="1250" dirty="0">
                <a:solidFill>
                  <a:schemeClr val="tx1"/>
                </a:solidFill>
              </a:rPr>
              <a:t>Tmax ≥ 47 °C</a:t>
            </a:r>
            <a:endParaRPr lang="en-US" sz="1250" dirty="0"/>
          </a:p>
          <a:p>
            <a:pPr indent="0" marL="0">
              <a:buNone/>
            </a:pPr>
            <a:r>
              <a:rPr lang="en-US" sz="1250" dirty="0">
                <a:solidFill>
                  <a:schemeClr val="tx1"/>
                </a:solidFill>
              </a:rPr>
              <a:t>→ SEVERE · Red alert</a:t>
            </a:r>
            <a:endParaRPr lang="en-US" sz="1250" dirty="0"/>
          </a:p>
        </p:txBody>
      </p:sp>
      <p:sp>
        <p:nvSpPr>
          <p:cNvPr id="17" name="3  Apply IMD rules caption"/>
          <p:cNvSpPr txBox="1"/>
          <p:nvPr/>
        </p:nvSpPr>
        <p:spPr>
          <a:xfrm>
            <a:off x="5029200" y="4133088"/>
            <a:ext cx="2103120" cy="365760"/>
          </a:xfrm>
          <a:prstGeom prst="rect">
            <a:avLst/>
          </a:prstGeom>
          <a:noFill/>
          <a:ln/>
        </p:spPr>
        <p:txBody>
          <a:bodyPr wrap="square" lIns="0" tIns="0" rIns="0" bIns="0" rtlCol="0" anchor="t"/>
          <a:lstStyle/>
          <a:p>
            <a:pPr indent="0" marL="0">
              <a:buNone/>
            </a:pPr>
            <a:r>
              <a:rPr lang="en-US" sz="1050" dirty="0">
                <a:solidFill>
                  <a:schemeClr val="accent6"/>
                </a:solidFill>
              </a:rPr>
              <a:t>Rule engine</a:t>
            </a:r>
            <a:endParaRPr lang="en-US" sz="1050" dirty="0"/>
          </a:p>
        </p:txBody>
      </p:sp>
      <p:sp>
        <p:nvSpPr>
          <p:cNvPr id="18" name="4  Write advisories step"/>
          <p:cNvSpPr/>
          <p:nvPr/>
        </p:nvSpPr>
        <p:spPr>
          <a:xfrm>
            <a:off x="7315200" y="1874520"/>
            <a:ext cx="2212848" cy="548640"/>
          </a:xfrm>
          <a:prstGeom prst="chevron">
            <a:avLst/>
          </a:prstGeom>
          <a:solidFill>
            <a:schemeClr val="accent1"/>
          </a:solidFill>
          <a:ln/>
        </p:spPr>
      </p:sp>
      <p:sp>
        <p:nvSpPr>
          <p:cNvPr id="19" name="4  Write advisories label"/>
          <p:cNvSpPr txBox="1"/>
          <p:nvPr/>
        </p:nvSpPr>
        <p:spPr>
          <a:xfrm>
            <a:off x="7589520" y="1874520"/>
            <a:ext cx="1691640" cy="548640"/>
          </a:xfrm>
          <a:prstGeom prst="rect">
            <a:avLst/>
          </a:prstGeom>
          <a:noFill/>
          <a:ln/>
        </p:spPr>
        <p:txBody>
          <a:bodyPr wrap="square" lIns="0" tIns="0" rIns="0" bIns="0" rtlCol="0" anchor="ctr"/>
          <a:lstStyle/>
          <a:p>
            <a:pPr indent="0" marL="0">
              <a:buNone/>
            </a:pPr>
            <a:r>
              <a:rPr lang="en-US" sz="1400" b="1" dirty="0">
                <a:solidFill>
                  <a:schemeClr val="bg1"/>
                </a:solidFill>
              </a:rPr>
              <a:t>4  Write advisories</a:t>
            </a:r>
            <a:endParaRPr lang="en-US" sz="1400" dirty="0"/>
          </a:p>
        </p:txBody>
      </p:sp>
      <p:sp>
        <p:nvSpPr>
          <p:cNvPr id="20" name="4  Write advisories example card"/>
          <p:cNvSpPr/>
          <p:nvPr/>
        </p:nvSpPr>
        <p:spPr>
          <a:xfrm>
            <a:off x="7315200" y="2606040"/>
            <a:ext cx="2103120" cy="1463040"/>
          </a:xfrm>
          <a:prstGeom prst="roundRect">
            <a:avLst>
              <a:gd name="adj" fmla="val 5000"/>
            </a:avLst>
          </a:prstGeom>
          <a:solidFill>
            <a:schemeClr val="bg2"/>
          </a:solidFill>
          <a:ln/>
        </p:spPr>
      </p:sp>
      <p:sp>
        <p:nvSpPr>
          <p:cNvPr id="21" name="4  Write advisories example"/>
          <p:cNvSpPr txBox="1"/>
          <p:nvPr/>
        </p:nvSpPr>
        <p:spPr>
          <a:xfrm>
            <a:off x="7452360" y="2697480"/>
            <a:ext cx="1828800" cy="1280160"/>
          </a:xfrm>
          <a:prstGeom prst="rect">
            <a:avLst/>
          </a:prstGeom>
          <a:noFill/>
          <a:ln/>
        </p:spPr>
        <p:txBody>
          <a:bodyPr wrap="square" lIns="0" tIns="0" rIns="0" bIns="0" rtlCol="0" anchor="ctr"/>
          <a:lstStyle/>
          <a:p>
            <a:pPr indent="0" marL="0">
              <a:buNone/>
            </a:pPr>
            <a:r>
              <a:rPr lang="en-US" sz="1250" i="1" dirty="0">
                <a:solidFill>
                  <a:schemeClr val="tx1"/>
                </a:solidFill>
              </a:rPr>
              <a:t>“Severe heatwave warning for Chandrapur on 18 May… Call 108 for heat-stroke emergencies.”</a:t>
            </a:r>
            <a:endParaRPr lang="en-US" sz="1250" dirty="0"/>
          </a:p>
        </p:txBody>
      </p:sp>
      <p:sp>
        <p:nvSpPr>
          <p:cNvPr id="22" name="4  Write advisories caption"/>
          <p:cNvSpPr txBox="1"/>
          <p:nvPr/>
        </p:nvSpPr>
        <p:spPr>
          <a:xfrm>
            <a:off x="7315200" y="4133088"/>
            <a:ext cx="2103120" cy="365760"/>
          </a:xfrm>
          <a:prstGeom prst="rect">
            <a:avLst/>
          </a:prstGeom>
          <a:noFill/>
          <a:ln/>
        </p:spPr>
        <p:txBody>
          <a:bodyPr wrap="square" lIns="0" tIns="0" rIns="0" bIns="0" rtlCol="0" anchor="t"/>
          <a:lstStyle/>
          <a:p>
            <a:pPr indent="0" marL="0">
              <a:buNone/>
            </a:pPr>
            <a:r>
              <a:rPr lang="en-US" sz="1050" dirty="0">
                <a:solidFill>
                  <a:schemeClr val="accent6"/>
                </a:solidFill>
              </a:rPr>
              <a:t>Seq2Seq · Unit 5.3</a:t>
            </a:r>
            <a:endParaRPr lang="en-US" sz="1050" dirty="0"/>
          </a:p>
        </p:txBody>
      </p:sp>
      <p:sp>
        <p:nvSpPr>
          <p:cNvPr id="23" name="5  Check &amp; approve step"/>
          <p:cNvSpPr/>
          <p:nvPr/>
        </p:nvSpPr>
        <p:spPr>
          <a:xfrm>
            <a:off x="9601200" y="1874520"/>
            <a:ext cx="2103120" cy="548640"/>
          </a:xfrm>
          <a:prstGeom prst="chevron">
            <a:avLst/>
          </a:prstGeom>
          <a:solidFill>
            <a:schemeClr val="accent5"/>
          </a:solidFill>
          <a:ln/>
        </p:spPr>
      </p:sp>
      <p:sp>
        <p:nvSpPr>
          <p:cNvPr id="24" name="5  Check &amp;amp; approve label"/>
          <p:cNvSpPr txBox="1"/>
          <p:nvPr/>
        </p:nvSpPr>
        <p:spPr>
          <a:xfrm>
            <a:off x="9875520" y="1874520"/>
            <a:ext cx="1691640" cy="548640"/>
          </a:xfrm>
          <a:prstGeom prst="rect">
            <a:avLst/>
          </a:prstGeom>
          <a:noFill/>
          <a:ln/>
        </p:spPr>
        <p:txBody>
          <a:bodyPr wrap="square" lIns="0" tIns="0" rIns="0" bIns="0" rtlCol="0" anchor="ctr"/>
          <a:lstStyle/>
          <a:p>
            <a:pPr indent="0" marL="0">
              <a:buNone/>
            </a:pPr>
            <a:r>
              <a:rPr lang="en-US" sz="1400" b="1" dirty="0">
                <a:solidFill>
                  <a:schemeClr val="bg1"/>
                </a:solidFill>
              </a:rPr>
              <a:t>5  Check &amp; approve</a:t>
            </a:r>
            <a:endParaRPr lang="en-US" sz="1400" dirty="0"/>
          </a:p>
        </p:txBody>
      </p:sp>
      <p:sp>
        <p:nvSpPr>
          <p:cNvPr id="25" name="5  Check &amp; approve example card"/>
          <p:cNvSpPr/>
          <p:nvPr/>
        </p:nvSpPr>
        <p:spPr>
          <a:xfrm>
            <a:off x="9601200" y="2606040"/>
            <a:ext cx="2103120" cy="1463040"/>
          </a:xfrm>
          <a:prstGeom prst="roundRect">
            <a:avLst>
              <a:gd name="adj" fmla="val 5000"/>
            </a:avLst>
          </a:prstGeom>
          <a:solidFill>
            <a:schemeClr val="bg2"/>
          </a:solidFill>
          <a:ln/>
        </p:spPr>
      </p:sp>
      <p:sp>
        <p:nvSpPr>
          <p:cNvPr id="26" name="5  Check &amp;amp; approve example"/>
          <p:cNvSpPr txBox="1"/>
          <p:nvPr/>
        </p:nvSpPr>
        <p:spPr>
          <a:xfrm>
            <a:off x="9738360" y="2697480"/>
            <a:ext cx="1828800" cy="1280160"/>
          </a:xfrm>
          <a:prstGeom prst="rect">
            <a:avLst/>
          </a:prstGeom>
          <a:noFill/>
          <a:ln/>
        </p:spPr>
        <p:txBody>
          <a:bodyPr wrap="square" lIns="0" tIns="0" rIns="0" bIns="0" rtlCol="0" anchor="ctr"/>
          <a:lstStyle/>
          <a:p>
            <a:pPr indent="0" marL="0">
              <a:buNone/>
            </a:pPr>
            <a:r>
              <a:rPr lang="en-US" sz="1250" dirty="0">
                <a:solidFill>
                  <a:schemeClr val="tx1"/>
                </a:solidFill>
              </a:rPr>
              <a:t>10 / 10 checks passed</a:t>
            </a:r>
            <a:endParaRPr lang="en-US" sz="1250" dirty="0"/>
          </a:p>
          <a:p>
            <a:pPr indent="0" marL="0">
              <a:buNone/>
            </a:pPr>
            <a:r>
              <a:rPr lang="en-US" sz="1250" dirty="0">
                <a:solidFill>
                  <a:schemeClr val="tx1"/>
                </a:solidFill>
              </a:rPr>
              <a:t>Expert approves the Red warning</a:t>
            </a:r>
            <a:endParaRPr lang="en-US" sz="1250" dirty="0"/>
          </a:p>
          <a:p>
            <a:pPr indent="0" marL="0">
              <a:buNone/>
            </a:pPr>
            <a:r>
              <a:rPr lang="en-US" sz="1250" dirty="0">
                <a:solidFill>
                  <a:schemeClr val="tx1"/>
                </a:solidFill>
              </a:rPr>
              <a:t>→ released</a:t>
            </a:r>
            <a:endParaRPr lang="en-US" sz="1250" dirty="0"/>
          </a:p>
        </p:txBody>
      </p:sp>
      <p:sp>
        <p:nvSpPr>
          <p:cNvPr id="27" name="5  Check &amp;amp; approve caption"/>
          <p:cNvSpPr txBox="1"/>
          <p:nvPr/>
        </p:nvSpPr>
        <p:spPr>
          <a:xfrm>
            <a:off x="9601200" y="4133088"/>
            <a:ext cx="2103120" cy="365760"/>
          </a:xfrm>
          <a:prstGeom prst="rect">
            <a:avLst/>
          </a:prstGeom>
          <a:noFill/>
          <a:ln/>
        </p:spPr>
        <p:txBody>
          <a:bodyPr wrap="square" lIns="0" tIns="0" rIns="0" bIns="0" rtlCol="0" anchor="t"/>
          <a:lstStyle/>
          <a:p>
            <a:pPr indent="0" marL="0">
              <a:buNone/>
            </a:pPr>
            <a:r>
              <a:rPr lang="en-US" sz="1050" dirty="0">
                <a:solidFill>
                  <a:schemeClr val="accent6"/>
                </a:solidFill>
              </a:rPr>
              <a:t>Guardrails + human review</a:t>
            </a:r>
            <a:endParaRPr lang="en-US" sz="1050" dirty="0"/>
          </a:p>
        </p:txBody>
      </p:sp>
      <p:sp>
        <p:nvSpPr>
          <p:cNvPr id="28" name="citizen path panel"/>
          <p:cNvSpPr/>
          <p:nvPr/>
        </p:nvSpPr>
        <p:spPr>
          <a:xfrm>
            <a:off x="457200" y="4663440"/>
            <a:ext cx="11274552" cy="1463040"/>
          </a:xfrm>
          <a:prstGeom prst="roundRect">
            <a:avLst>
              <a:gd name="adj" fmla="val 6250"/>
            </a:avLst>
          </a:prstGeom>
          <a:solidFill>
            <a:schemeClr val="accent3">
              <a:alpha val="8000"/>
            </a:schemeClr>
          </a:solidFill>
          <a:ln/>
        </p:spPr>
      </p:sp>
      <p:sp>
        <p:nvSpPr>
          <p:cNvPr id="29" name="citizen path label"/>
          <p:cNvSpPr txBox="1"/>
          <p:nvPr/>
        </p:nvSpPr>
        <p:spPr>
          <a:xfrm>
            <a:off x="685800" y="4754880"/>
            <a:ext cx="5486400" cy="274320"/>
          </a:xfrm>
          <a:prstGeom prst="rect">
            <a:avLst/>
          </a:prstGeom>
          <a:noFill/>
          <a:ln/>
        </p:spPr>
        <p:txBody>
          <a:bodyPr wrap="square" lIns="0" tIns="0" rIns="0" bIns="0" rtlCol="0" anchor="t"/>
          <a:lstStyle/>
          <a:p>
            <a:pPr indent="0" marL="0">
              <a:buNone/>
            </a:pPr>
            <a:r>
              <a:rPr lang="en-US" sz="1200" b="1" spc="150" kern="0" dirty="0">
                <a:solidFill>
                  <a:schemeClr val="accent3"/>
                </a:solidFill>
              </a:rPr>
              <a:t>IN PARALLEL · CITIZEN REPORTS</a:t>
            </a:r>
            <a:endParaRPr lang="en-US" sz="1200" dirty="0"/>
          </a:p>
        </p:txBody>
      </p:sp>
      <p:sp>
        <p:nvSpPr>
          <p:cNvPr id="30" name="“my grandmother fainted in the heat at chandrapur market” pill"/>
          <p:cNvSpPr/>
          <p:nvPr/>
        </p:nvSpPr>
        <p:spPr>
          <a:xfrm>
            <a:off x="685800" y="5212080"/>
            <a:ext cx="3017520" cy="685800"/>
          </a:xfrm>
          <a:prstGeom prst="roundRect">
            <a:avLst>
              <a:gd name="adj" fmla="val 16000"/>
            </a:avLst>
          </a:prstGeom>
          <a:solidFill>
            <a:schemeClr val="bg1"/>
          </a:solidFill>
          <a:ln w="12700">
            <a:solidFill>
              <a:schemeClr val="accent3"/>
            </a:solidFill>
            <a:prstDash val="solid"/>
          </a:ln>
        </p:spPr>
      </p:sp>
      <p:sp>
        <p:nvSpPr>
          <p:cNvPr id="31" name="“my grandmother fainted in the heat at chandrapur market” text"/>
          <p:cNvSpPr txBox="1"/>
          <p:nvPr/>
        </p:nvSpPr>
        <p:spPr>
          <a:xfrm>
            <a:off x="777240" y="5212080"/>
            <a:ext cx="2834640" cy="685800"/>
          </a:xfrm>
          <a:prstGeom prst="rect">
            <a:avLst/>
          </a:prstGeom>
          <a:noFill/>
          <a:ln/>
        </p:spPr>
        <p:txBody>
          <a:bodyPr wrap="square" lIns="0" tIns="0" rIns="0" bIns="0" rtlCol="0" anchor="ctr"/>
          <a:lstStyle/>
          <a:p>
            <a:pPr algn="ctr" indent="0" marL="0">
              <a:buNone/>
            </a:pPr>
            <a:r>
              <a:rPr lang="en-US" sz="1200" i="1" dirty="0">
                <a:solidFill>
                  <a:schemeClr val="tx1"/>
                </a:solidFill>
              </a:rPr>
              <a:t>“my grandmother fainted in the heat at chandrapur market”</a:t>
            </a:r>
            <a:endParaRPr lang="en-US" sz="1200" dirty="0"/>
          </a:p>
        </p:txBody>
      </p:sp>
      <p:sp>
        <p:nvSpPr>
          <p:cNvPr id="32" name="citizen arrow 1"/>
          <p:cNvSpPr/>
          <p:nvPr/>
        </p:nvSpPr>
        <p:spPr>
          <a:xfrm>
            <a:off x="3703320" y="5550408"/>
            <a:ext cx="228600" cy="0"/>
          </a:xfrm>
          <a:prstGeom prst="line">
            <a:avLst/>
          </a:prstGeom>
          <a:noFill/>
          <a:ln w="19050">
            <a:solidFill>
              <a:schemeClr val="accent3"/>
            </a:solidFill>
            <a:prstDash val="solid"/>
            <a:tailEnd type="triangle"/>
          </a:ln>
        </p:spPr>
      </p:sp>
      <p:sp>
        <p:nvSpPr>
          <p:cNvPr id="33" name="Normalise text pill"/>
          <p:cNvSpPr/>
          <p:nvPr/>
        </p:nvSpPr>
        <p:spPr>
          <a:xfrm>
            <a:off x="3977640" y="5212080"/>
            <a:ext cx="1463040" cy="685800"/>
          </a:xfrm>
          <a:prstGeom prst="roundRect">
            <a:avLst>
              <a:gd name="adj" fmla="val 16000"/>
            </a:avLst>
          </a:prstGeom>
          <a:solidFill>
            <a:schemeClr val="accent4"/>
          </a:solidFill>
          <a:ln/>
        </p:spPr>
      </p:sp>
      <p:sp>
        <p:nvSpPr>
          <p:cNvPr id="34" name="Normalise text text"/>
          <p:cNvSpPr txBox="1"/>
          <p:nvPr/>
        </p:nvSpPr>
        <p:spPr>
          <a:xfrm>
            <a:off x="4069080" y="5212080"/>
            <a:ext cx="1280160" cy="685800"/>
          </a:xfrm>
          <a:prstGeom prst="rect">
            <a:avLst/>
          </a:prstGeom>
          <a:noFill/>
          <a:ln/>
        </p:spPr>
        <p:txBody>
          <a:bodyPr wrap="square" lIns="0" tIns="0" rIns="0" bIns="0" rtlCol="0" anchor="ctr"/>
          <a:lstStyle/>
          <a:p>
            <a:pPr algn="ctr" indent="0" marL="0">
              <a:buNone/>
            </a:pPr>
            <a:r>
              <a:rPr lang="en-US" sz="1300" b="1" dirty="0">
                <a:solidFill>
                  <a:schemeClr val="bg1"/>
                </a:solidFill>
              </a:rPr>
              <a:t>Normalise text</a:t>
            </a:r>
            <a:endParaRPr lang="en-US" sz="1300" dirty="0"/>
          </a:p>
        </p:txBody>
      </p:sp>
      <p:sp>
        <p:nvSpPr>
          <p:cNvPr id="35" name="citizen arrow 2"/>
          <p:cNvSpPr/>
          <p:nvPr/>
        </p:nvSpPr>
        <p:spPr>
          <a:xfrm>
            <a:off x="5440680" y="5550408"/>
            <a:ext cx="228600" cy="0"/>
          </a:xfrm>
          <a:prstGeom prst="line">
            <a:avLst/>
          </a:prstGeom>
          <a:noFill/>
          <a:ln w="19050">
            <a:solidFill>
              <a:schemeClr val="accent3"/>
            </a:solidFill>
            <a:prstDash val="solid"/>
            <a:tailEnd type="triangle"/>
          </a:ln>
        </p:spPr>
      </p:sp>
      <p:sp>
        <p:nvSpPr>
          <p:cNvPr id="36" name="HEAT_EMERGENCY pill"/>
          <p:cNvSpPr/>
          <p:nvPr/>
        </p:nvSpPr>
        <p:spPr>
          <a:xfrm>
            <a:off x="5715000" y="5212080"/>
            <a:ext cx="1600200" cy="685800"/>
          </a:xfrm>
          <a:prstGeom prst="roundRect">
            <a:avLst>
              <a:gd name="adj" fmla="val 16000"/>
            </a:avLst>
          </a:prstGeom>
          <a:solidFill>
            <a:schemeClr val="accent3"/>
          </a:solidFill>
          <a:ln/>
        </p:spPr>
      </p:sp>
      <p:sp>
        <p:nvSpPr>
          <p:cNvPr id="37" name="HEAT_EMERGENCY text"/>
          <p:cNvSpPr txBox="1"/>
          <p:nvPr/>
        </p:nvSpPr>
        <p:spPr>
          <a:xfrm>
            <a:off x="5806440" y="5212080"/>
            <a:ext cx="1417320" cy="685800"/>
          </a:xfrm>
          <a:prstGeom prst="rect">
            <a:avLst/>
          </a:prstGeom>
          <a:noFill/>
          <a:ln/>
        </p:spPr>
        <p:txBody>
          <a:bodyPr wrap="square" lIns="0" tIns="0" rIns="0" bIns="0" rtlCol="0" anchor="ctr"/>
          <a:lstStyle/>
          <a:p>
            <a:pPr algn="ctr" indent="0" marL="0">
              <a:buNone/>
            </a:pPr>
            <a:r>
              <a:rPr lang="en-US" sz="1300" b="1" dirty="0">
                <a:solidFill>
                  <a:schemeClr val="bg1"/>
                </a:solidFill>
              </a:rPr>
              <a:t>HEAT_EMERGENCY</a:t>
            </a:r>
            <a:endParaRPr lang="en-US" sz="1300" dirty="0"/>
          </a:p>
        </p:txBody>
      </p:sp>
      <p:sp>
        <p:nvSpPr>
          <p:cNvPr id="38" name="citizen arrow 3"/>
          <p:cNvSpPr/>
          <p:nvPr/>
        </p:nvSpPr>
        <p:spPr>
          <a:xfrm>
            <a:off x="7315200" y="5550408"/>
            <a:ext cx="228600" cy="0"/>
          </a:xfrm>
          <a:prstGeom prst="line">
            <a:avLst/>
          </a:prstGeom>
          <a:noFill/>
          <a:ln w="19050">
            <a:solidFill>
              <a:schemeClr val="accent3"/>
            </a:solidFill>
            <a:prstDash val="solid"/>
            <a:tailEnd type="triangle"/>
          </a:ln>
        </p:spPr>
      </p:sp>
      <p:sp>
        <p:nvSpPr>
          <p:cNvPr id="39" name="Place: Chandrapur pill"/>
          <p:cNvSpPr/>
          <p:nvPr/>
        </p:nvSpPr>
        <p:spPr>
          <a:xfrm>
            <a:off x="7589520" y="5212080"/>
            <a:ext cx="1691640" cy="685800"/>
          </a:xfrm>
          <a:prstGeom prst="roundRect">
            <a:avLst>
              <a:gd name="adj" fmla="val 16000"/>
            </a:avLst>
          </a:prstGeom>
          <a:solidFill>
            <a:schemeClr val="accent4"/>
          </a:solidFill>
          <a:ln/>
        </p:spPr>
      </p:sp>
      <p:sp>
        <p:nvSpPr>
          <p:cNvPr id="40" name="Place: Chandrapur text"/>
          <p:cNvSpPr txBox="1"/>
          <p:nvPr/>
        </p:nvSpPr>
        <p:spPr>
          <a:xfrm>
            <a:off x="7680960" y="5212080"/>
            <a:ext cx="1508760" cy="685800"/>
          </a:xfrm>
          <a:prstGeom prst="rect">
            <a:avLst/>
          </a:prstGeom>
          <a:noFill/>
          <a:ln/>
        </p:spPr>
        <p:txBody>
          <a:bodyPr wrap="square" lIns="0" tIns="0" rIns="0" bIns="0" rtlCol="0" anchor="ctr"/>
          <a:lstStyle/>
          <a:p>
            <a:pPr algn="ctr" indent="0" marL="0">
              <a:buNone/>
            </a:pPr>
            <a:r>
              <a:rPr lang="en-US" sz="1300" b="1" dirty="0">
                <a:solidFill>
                  <a:schemeClr val="bg1"/>
                </a:solidFill>
              </a:rPr>
              <a:t>Place: Chandrapur</a:t>
            </a:r>
            <a:endParaRPr lang="en-US" sz="1300" dirty="0"/>
          </a:p>
        </p:txBody>
      </p:sp>
      <p:sp>
        <p:nvSpPr>
          <p:cNvPr id="41" name="citizen arrow 4"/>
          <p:cNvSpPr/>
          <p:nvPr/>
        </p:nvSpPr>
        <p:spPr>
          <a:xfrm>
            <a:off x="9281160" y="5550408"/>
            <a:ext cx="228600" cy="0"/>
          </a:xfrm>
          <a:prstGeom prst="line">
            <a:avLst/>
          </a:prstGeom>
          <a:noFill/>
          <a:ln w="19050">
            <a:solidFill>
              <a:schemeClr val="accent3"/>
            </a:solidFill>
            <a:prstDash val="solid"/>
            <a:tailEnd type="triangle"/>
          </a:ln>
        </p:spPr>
      </p:sp>
      <p:sp>
        <p:nvSpPr>
          <p:cNvPr id="42" name="Confirms forecast ✓ pill"/>
          <p:cNvSpPr/>
          <p:nvPr/>
        </p:nvSpPr>
        <p:spPr>
          <a:xfrm>
            <a:off x="9555480" y="5212080"/>
            <a:ext cx="1828800" cy="685800"/>
          </a:xfrm>
          <a:prstGeom prst="roundRect">
            <a:avLst>
              <a:gd name="adj" fmla="val 16000"/>
            </a:avLst>
          </a:prstGeom>
          <a:solidFill>
            <a:schemeClr val="accent5"/>
          </a:solidFill>
          <a:ln/>
        </p:spPr>
      </p:sp>
      <p:sp>
        <p:nvSpPr>
          <p:cNvPr id="43" name="Confirms forecast ✓ text"/>
          <p:cNvSpPr txBox="1"/>
          <p:nvPr/>
        </p:nvSpPr>
        <p:spPr>
          <a:xfrm>
            <a:off x="9646920" y="5212080"/>
            <a:ext cx="1645920" cy="685800"/>
          </a:xfrm>
          <a:prstGeom prst="rect">
            <a:avLst/>
          </a:prstGeom>
          <a:noFill/>
          <a:ln/>
        </p:spPr>
        <p:txBody>
          <a:bodyPr wrap="square" lIns="0" tIns="0" rIns="0" bIns="0" rtlCol="0" anchor="ctr"/>
          <a:lstStyle/>
          <a:p>
            <a:pPr algn="ctr" indent="0" marL="0">
              <a:buNone/>
            </a:pPr>
            <a:r>
              <a:rPr lang="en-US" sz="1300" b="1" dirty="0">
                <a:solidFill>
                  <a:schemeClr val="bg1"/>
                </a:solidFill>
              </a:rPr>
              <a:t>Confirms forecast ✓</a:t>
            </a:r>
            <a:endParaRPr lang="en-US" sz="1300" dirty="0"/>
          </a:p>
        </p:txBody>
      </p:sp>
      <p:sp>
        <p:nvSpPr>
          <p:cNvPr id="25" name="Slide Number Placeholder 0"/>
          <p:cNvSpPr>
            <a:spLocks noGrp="1"/>
          </p:cNvSpPr>
          <p:nvPr>
            <p:ph type="sldNum" sz="quarter" idx="4294967295"/>
          </p:nvPr>
        </p:nvSpPr>
        <p:spPr>
          <a:xfrm>
            <a:off x="11091672" y="6537960"/>
            <a:ext cx="64008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1"/>
                </a:solidFill>
                <a:latin typeface="Arial"/>
                <a:ea typeface="Arial"/>
                <a:cs typeface="Arial"/>
              </a:defRPr>
            </a:lvl1pPr>
          </a:lstStyle>
          <a:p>
            <a:pPr algn="ct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4" type="title" hasCustomPrompt="1"/>
          </p:nvPr>
        </p:nvSpPr>
        <p:spPr>
          <a:xfrm>
            <a:off x="457200" y="1097280"/>
            <a:ext cx="10332720" cy="640080"/>
          </a:xfrm>
          <a:prstGeom prst="rect">
            <a:avLst/>
          </a:prstGeom>
          <a:noFill/>
          <a:ln/>
        </p:spPr>
        <p:txBody>
          <a:bodyPr wrap="square" lIns="0" tIns="0" rIns="0" bIns="0" rtlCol="0" anchor="ctr"/>
          <a:lstStyle/>
          <a:p>
            <a:pPr algn="l" indent="0" marL="0">
              <a:buNone/>
            </a:pPr>
            <a:r>
              <a:rPr lang="en-US" sz="3000" b="1" dirty="0">
                <a:solidFill>
                  <a:schemeClr val="tx2"/>
                </a:solidFill>
              </a:rPr>
              <a:t>How it works: NLP techniques behind each part</a:t>
            </a:r>
            <a:endParaRPr lang="en-US" sz="3000" dirty="0"/>
          </a:p>
        </p:txBody>
      </p:sp>
      <p:sp>
        <p:nvSpPr>
          <p:cNvPr id="3" name="Word boundary detection card"/>
          <p:cNvSpPr/>
          <p:nvPr/>
        </p:nvSpPr>
        <p:spPr>
          <a:xfrm>
            <a:off x="457200" y="1874520"/>
            <a:ext cx="3611880" cy="1600200"/>
          </a:xfrm>
          <a:prstGeom prst="roundRect">
            <a:avLst>
              <a:gd name="adj" fmla="val 5714"/>
            </a:avLst>
          </a:prstGeom>
          <a:solidFill>
            <a:schemeClr val="bg2"/>
          </a:solidFill>
          <a:ln/>
        </p:spPr>
      </p:sp>
      <p:sp>
        <p:nvSpPr>
          <p:cNvPr id="4" name="Word boundary detection circle"/>
          <p:cNvSpPr/>
          <p:nvPr/>
        </p:nvSpPr>
        <p:spPr>
          <a:xfrm>
            <a:off x="640080" y="2075688"/>
            <a:ext cx="502920" cy="502920"/>
          </a:xfrm>
          <a:prstGeom prst="ellipse">
            <a:avLst/>
          </a:prstGeom>
          <a:solidFill>
            <a:schemeClr val="accent1"/>
          </a:solidFill>
          <a:ln/>
        </p:spPr>
      </p:sp>
      <p:pic>
        <p:nvPicPr>
          <p:cNvPr id="5" name="Word boundary detection icon" descr="Word boundary detection">    </p:cNvPr>
          <p:cNvPicPr>
            <a:picLocks noChangeAspect="1"/>
          </p:cNvPicPr>
          <p:nvPr/>
        </p:nvPicPr>
        <p:blipFill>
          <a:blip r:embed="rId1"/>
          <a:stretch>
            <a:fillRect/>
          </a:stretch>
        </p:blipFill>
        <p:spPr>
          <a:xfrm>
            <a:off x="765810" y="2201418"/>
            <a:ext cx="251460" cy="251460"/>
          </a:xfrm>
          <a:prstGeom prst="rect">
            <a:avLst/>
          </a:prstGeom>
        </p:spPr>
      </p:pic>
      <p:sp>
        <p:nvSpPr>
          <p:cNvPr id="6" name="Word boundary detection text"/>
          <p:cNvSpPr txBox="1"/>
          <p:nvPr/>
        </p:nvSpPr>
        <p:spPr>
          <a:xfrm>
            <a:off x="1325880" y="2029968"/>
            <a:ext cx="2606040" cy="1325880"/>
          </a:xfrm>
          <a:prstGeom prst="rect">
            <a:avLst/>
          </a:prstGeom>
          <a:noFill/>
          <a:ln/>
        </p:spPr>
        <p:txBody>
          <a:bodyPr wrap="square" lIns="0" tIns="0" rIns="0" bIns="0" rtlCol="0" anchor="t"/>
          <a:lstStyle/>
          <a:p>
            <a:pPr indent="0" marL="0">
              <a:spcAft>
                <a:spcPts val="300"/>
              </a:spcAft>
              <a:buNone/>
            </a:pPr>
            <a:r>
              <a:rPr lang="en-US" sz="1050" b="1" spc="100" kern="0" dirty="0">
                <a:solidFill>
                  <a:schemeClr val="accent2"/>
                </a:solidFill>
              </a:rPr>
              <a:t>MODULE 1 · UNITS 1.2–1.3</a:t>
            </a:r>
            <a:endParaRPr lang="en-US" sz="1400" dirty="0"/>
          </a:p>
          <a:p>
            <a:pPr indent="0" marL="0">
              <a:spcAft>
                <a:spcPts val="300"/>
              </a:spcAft>
              <a:buNone/>
            </a:pPr>
            <a:r>
              <a:rPr lang="en-US" sz="1500" b="1" dirty="0">
                <a:solidFill>
                  <a:schemeClr val="tx1"/>
                </a:solidFill>
              </a:rPr>
              <a:t>Word boundary detection</a:t>
            </a:r>
            <a:endParaRPr lang="en-US" sz="1400" dirty="0"/>
          </a:p>
          <a:p>
            <a:pPr indent="0" marL="0">
              <a:spcAft>
                <a:spcPts val="300"/>
              </a:spcAft>
              <a:buNone/>
            </a:pPr>
            <a:r>
              <a:rPr lang="en-US" sz="1300" dirty="0">
                <a:solidFill>
                  <a:schemeClr val="tx1"/>
                </a:solidFill>
              </a:rPr>
              <a:t>Splits hashtags by argmax over a unigram language model (Viterbi).</a:t>
            </a:r>
            <a:endParaRPr lang="en-US" sz="1400" dirty="0"/>
          </a:p>
          <a:p>
            <a:pPr indent="0" marL="0">
              <a:spcAft>
                <a:spcPts val="300"/>
              </a:spcAft>
              <a:buNone/>
            </a:pPr>
            <a:r>
              <a:rPr lang="en-US" sz="1100" i="1" dirty="0">
                <a:solidFill>
                  <a:schemeClr val="accent6"/>
                </a:solidFill>
              </a:rPr>
              <a:t>#heatwavealertnagpur → heatwave · alert · nagpur</a:t>
            </a:r>
            <a:endParaRPr lang="en-US" sz="1400" dirty="0"/>
          </a:p>
        </p:txBody>
      </p:sp>
      <p:sp>
        <p:nvSpPr>
          <p:cNvPr id="7" name="Indian-language morphology card"/>
          <p:cNvSpPr/>
          <p:nvPr/>
        </p:nvSpPr>
        <p:spPr>
          <a:xfrm>
            <a:off x="4288536" y="1874520"/>
            <a:ext cx="3611880" cy="1600200"/>
          </a:xfrm>
          <a:prstGeom prst="roundRect">
            <a:avLst>
              <a:gd name="adj" fmla="val 5714"/>
            </a:avLst>
          </a:prstGeom>
          <a:solidFill>
            <a:schemeClr val="bg2"/>
          </a:solidFill>
          <a:ln/>
        </p:spPr>
      </p:sp>
      <p:sp>
        <p:nvSpPr>
          <p:cNvPr id="8" name="Indian-language morphology circle"/>
          <p:cNvSpPr/>
          <p:nvPr/>
        </p:nvSpPr>
        <p:spPr>
          <a:xfrm>
            <a:off x="4471416" y="2075688"/>
            <a:ext cx="502920" cy="502920"/>
          </a:xfrm>
          <a:prstGeom prst="ellipse">
            <a:avLst/>
          </a:prstGeom>
          <a:solidFill>
            <a:schemeClr val="accent1"/>
          </a:solidFill>
          <a:ln/>
        </p:spPr>
      </p:sp>
      <p:pic>
        <p:nvPicPr>
          <p:cNvPr id="9" name="Indian-language morphology icon" descr="Indian-language morphology">    </p:cNvPr>
          <p:cNvPicPr>
            <a:picLocks noChangeAspect="1"/>
          </p:cNvPicPr>
          <p:nvPr/>
        </p:nvPicPr>
        <p:blipFill>
          <a:blip r:embed="rId2"/>
          <a:stretch>
            <a:fillRect/>
          </a:stretch>
        </p:blipFill>
        <p:spPr>
          <a:xfrm>
            <a:off x="4597146" y="2201418"/>
            <a:ext cx="251460" cy="251460"/>
          </a:xfrm>
          <a:prstGeom prst="rect">
            <a:avLst/>
          </a:prstGeom>
        </p:spPr>
      </p:pic>
      <p:sp>
        <p:nvSpPr>
          <p:cNvPr id="10" name="Indian-language morphology text"/>
          <p:cNvSpPr txBox="1"/>
          <p:nvPr/>
        </p:nvSpPr>
        <p:spPr>
          <a:xfrm>
            <a:off x="5157216" y="2029968"/>
            <a:ext cx="2606040" cy="1325880"/>
          </a:xfrm>
          <a:prstGeom prst="rect">
            <a:avLst/>
          </a:prstGeom>
          <a:noFill/>
          <a:ln/>
        </p:spPr>
        <p:txBody>
          <a:bodyPr wrap="square" lIns="0" tIns="0" rIns="0" bIns="0" rtlCol="0" anchor="t"/>
          <a:lstStyle/>
          <a:p>
            <a:pPr indent="0" marL="0">
              <a:spcAft>
                <a:spcPts val="300"/>
              </a:spcAft>
              <a:buNone/>
            </a:pPr>
            <a:r>
              <a:rPr lang="en-US" sz="1050" b="1" spc="100" kern="0" dirty="0">
                <a:solidFill>
                  <a:schemeClr val="accent2"/>
                </a:solidFill>
              </a:rPr>
              <a:t>MODULE 2 · UNITS 2.1–2.2</a:t>
            </a:r>
            <a:endParaRPr lang="en-US" sz="1400" dirty="0"/>
          </a:p>
          <a:p>
            <a:pPr indent="0" marL="0">
              <a:spcAft>
                <a:spcPts val="300"/>
              </a:spcAft>
              <a:buNone/>
            </a:pPr>
            <a:r>
              <a:rPr lang="en-US" sz="1500" b="1" dirty="0">
                <a:solidFill>
                  <a:schemeClr val="tx1"/>
                </a:solidFill>
              </a:rPr>
              <a:t>Indian-language morphology</a:t>
            </a:r>
            <a:endParaRPr lang="en-US" sz="1400" dirty="0"/>
          </a:p>
          <a:p>
            <a:pPr indent="0" marL="0">
              <a:spcAft>
                <a:spcPts val="300"/>
              </a:spcAft>
              <a:buNone/>
            </a:pPr>
            <a:r>
              <a:rPr lang="en-US" sz="1300" dirty="0">
                <a:solidFill>
                  <a:schemeClr val="tx1"/>
                </a:solidFill>
              </a:rPr>
              <a:t>Finite-state analyser strips Marathi/Hindi suffixes, restores stems.</a:t>
            </a:r>
            <a:endParaRPr lang="en-US" sz="1400" dirty="0"/>
          </a:p>
          <a:p>
            <a:pPr indent="0" marL="0">
              <a:spcAft>
                <a:spcPts val="300"/>
              </a:spcAft>
              <a:buNone/>
            </a:pPr>
            <a:r>
              <a:rPr lang="en-US" sz="1100" i="1" dirty="0">
                <a:solidFill>
                  <a:schemeClr val="accent6"/>
                </a:solidFill>
              </a:rPr>
              <a:t>नागपूरमध्ये → नागपूर + मध्ये  (“in Nagpur”)</a:t>
            </a:r>
            <a:endParaRPr lang="en-US" sz="1400" dirty="0"/>
          </a:p>
        </p:txBody>
      </p:sp>
      <p:sp>
        <p:nvSpPr>
          <p:cNvPr id="11" name="Named entity recognition card"/>
          <p:cNvSpPr/>
          <p:nvPr/>
        </p:nvSpPr>
        <p:spPr>
          <a:xfrm>
            <a:off x="8119872" y="1874520"/>
            <a:ext cx="3611880" cy="1600200"/>
          </a:xfrm>
          <a:prstGeom prst="roundRect">
            <a:avLst>
              <a:gd name="adj" fmla="val 5714"/>
            </a:avLst>
          </a:prstGeom>
          <a:solidFill>
            <a:schemeClr val="bg2"/>
          </a:solidFill>
          <a:ln/>
        </p:spPr>
      </p:sp>
      <p:sp>
        <p:nvSpPr>
          <p:cNvPr id="12" name="Named entity recognition circle"/>
          <p:cNvSpPr/>
          <p:nvPr/>
        </p:nvSpPr>
        <p:spPr>
          <a:xfrm>
            <a:off x="8302752" y="2075688"/>
            <a:ext cx="502920" cy="502920"/>
          </a:xfrm>
          <a:prstGeom prst="ellipse">
            <a:avLst/>
          </a:prstGeom>
          <a:solidFill>
            <a:schemeClr val="accent1"/>
          </a:solidFill>
          <a:ln/>
        </p:spPr>
      </p:sp>
      <p:pic>
        <p:nvPicPr>
          <p:cNvPr id="13" name="Named entity recognition icon" descr="Named entity recognition">    </p:cNvPr>
          <p:cNvPicPr>
            <a:picLocks noChangeAspect="1"/>
          </p:cNvPicPr>
          <p:nvPr/>
        </p:nvPicPr>
        <p:blipFill>
          <a:blip r:embed="rId3"/>
          <a:stretch>
            <a:fillRect/>
          </a:stretch>
        </p:blipFill>
        <p:spPr>
          <a:xfrm>
            <a:off x="8428482" y="2201418"/>
            <a:ext cx="251460" cy="251460"/>
          </a:xfrm>
          <a:prstGeom prst="rect">
            <a:avLst/>
          </a:prstGeom>
        </p:spPr>
      </p:pic>
      <p:sp>
        <p:nvSpPr>
          <p:cNvPr id="14" name="Named entity recognition text"/>
          <p:cNvSpPr txBox="1"/>
          <p:nvPr/>
        </p:nvSpPr>
        <p:spPr>
          <a:xfrm>
            <a:off x="8988552" y="2029968"/>
            <a:ext cx="2606040" cy="1325880"/>
          </a:xfrm>
          <a:prstGeom prst="rect">
            <a:avLst/>
          </a:prstGeom>
          <a:noFill/>
          <a:ln/>
        </p:spPr>
        <p:txBody>
          <a:bodyPr wrap="square" lIns="0" tIns="0" rIns="0" bIns="0" rtlCol="0" anchor="t"/>
          <a:lstStyle/>
          <a:p>
            <a:pPr indent="0" marL="0">
              <a:spcAft>
                <a:spcPts val="300"/>
              </a:spcAft>
              <a:buNone/>
            </a:pPr>
            <a:r>
              <a:rPr lang="en-US" sz="1050" b="1" spc="100" kern="0" dirty="0">
                <a:solidFill>
                  <a:schemeClr val="accent2"/>
                </a:solidFill>
              </a:rPr>
              <a:t>MODULE 2 · UNIT 2.3</a:t>
            </a:r>
            <a:endParaRPr lang="en-US" sz="1400" dirty="0"/>
          </a:p>
          <a:p>
            <a:pPr indent="0" marL="0">
              <a:spcAft>
                <a:spcPts val="300"/>
              </a:spcAft>
              <a:buNone/>
            </a:pPr>
            <a:r>
              <a:rPr lang="en-US" sz="1500" b="1" dirty="0">
                <a:solidFill>
                  <a:schemeClr val="tx1"/>
                </a:solidFill>
              </a:rPr>
              <a:t>Named entity recognition</a:t>
            </a:r>
            <a:endParaRPr lang="en-US" sz="1400" dirty="0"/>
          </a:p>
          <a:p>
            <a:pPr indent="0" marL="0">
              <a:spcAft>
                <a:spcPts val="300"/>
              </a:spcAft>
              <a:buNone/>
            </a:pPr>
            <a:r>
              <a:rPr lang="en-US" sz="1300" dirty="0">
                <a:solidFill>
                  <a:schemeClr val="tx1"/>
                </a:solidFill>
              </a:rPr>
              <a:t>CRF with word-shape and context features tags places, dates, temperatures.</a:t>
            </a:r>
            <a:endParaRPr lang="en-US" sz="1400" dirty="0"/>
          </a:p>
          <a:p>
            <a:pPr indent="0" marL="0">
              <a:spcAft>
                <a:spcPts val="300"/>
              </a:spcAft>
              <a:buNone/>
            </a:pPr>
            <a:r>
              <a:rPr lang="en-US" sz="1100" i="1" dirty="0">
                <a:solidFill>
                  <a:schemeClr val="accent6"/>
                </a:solidFill>
              </a:rPr>
              <a:t>Finds 90% of places never seen in training</a:t>
            </a:r>
            <a:endParaRPr lang="en-US" sz="1400" dirty="0"/>
          </a:p>
        </p:txBody>
      </p:sp>
      <p:sp>
        <p:nvSpPr>
          <p:cNvPr id="15" name="Noisy web text card"/>
          <p:cNvSpPr/>
          <p:nvPr/>
        </p:nvSpPr>
        <p:spPr>
          <a:xfrm>
            <a:off x="457200" y="3657600"/>
            <a:ext cx="3611880" cy="1600200"/>
          </a:xfrm>
          <a:prstGeom prst="roundRect">
            <a:avLst>
              <a:gd name="adj" fmla="val 5714"/>
            </a:avLst>
          </a:prstGeom>
          <a:solidFill>
            <a:schemeClr val="bg2"/>
          </a:solidFill>
          <a:ln/>
        </p:spPr>
      </p:sp>
      <p:sp>
        <p:nvSpPr>
          <p:cNvPr id="16" name="Noisy web text circle"/>
          <p:cNvSpPr/>
          <p:nvPr/>
        </p:nvSpPr>
        <p:spPr>
          <a:xfrm>
            <a:off x="640080" y="3858768"/>
            <a:ext cx="502920" cy="502920"/>
          </a:xfrm>
          <a:prstGeom prst="ellipse">
            <a:avLst/>
          </a:prstGeom>
          <a:solidFill>
            <a:schemeClr val="accent1"/>
          </a:solidFill>
          <a:ln/>
        </p:spPr>
      </p:sp>
      <p:pic>
        <p:nvPicPr>
          <p:cNvPr id="17" name="Noisy web text icon" descr="Noisy web text">    </p:cNvPr>
          <p:cNvPicPr>
            <a:picLocks noChangeAspect="1"/>
          </p:cNvPicPr>
          <p:nvPr/>
        </p:nvPicPr>
        <p:blipFill>
          <a:blip r:embed="rId4"/>
          <a:stretch>
            <a:fillRect/>
          </a:stretch>
        </p:blipFill>
        <p:spPr>
          <a:xfrm>
            <a:off x="765810" y="3984498"/>
            <a:ext cx="251460" cy="251460"/>
          </a:xfrm>
          <a:prstGeom prst="rect">
            <a:avLst/>
          </a:prstGeom>
        </p:spPr>
      </p:pic>
      <p:sp>
        <p:nvSpPr>
          <p:cNvPr id="18" name="Noisy web text text"/>
          <p:cNvSpPr txBox="1"/>
          <p:nvPr/>
        </p:nvSpPr>
        <p:spPr>
          <a:xfrm>
            <a:off x="1325880" y="3813048"/>
            <a:ext cx="2606040" cy="1325880"/>
          </a:xfrm>
          <a:prstGeom prst="rect">
            <a:avLst/>
          </a:prstGeom>
          <a:noFill/>
          <a:ln/>
        </p:spPr>
        <p:txBody>
          <a:bodyPr wrap="square" lIns="0" tIns="0" rIns="0" bIns="0" rtlCol="0" anchor="t"/>
          <a:lstStyle/>
          <a:p>
            <a:pPr indent="0" marL="0">
              <a:spcAft>
                <a:spcPts val="300"/>
              </a:spcAft>
              <a:buNone/>
            </a:pPr>
            <a:r>
              <a:rPr lang="en-US" sz="1050" b="1" spc="100" kern="0" dirty="0">
                <a:solidFill>
                  <a:schemeClr val="accent2"/>
                </a:solidFill>
              </a:rPr>
              <a:t>MODULE 3 · UNIT 3.2</a:t>
            </a:r>
            <a:endParaRPr lang="en-US" sz="1400" dirty="0"/>
          </a:p>
          <a:p>
            <a:pPr indent="0" marL="0">
              <a:spcAft>
                <a:spcPts val="300"/>
              </a:spcAft>
              <a:buNone/>
            </a:pPr>
            <a:r>
              <a:rPr lang="en-US" sz="1500" b="1" dirty="0">
                <a:solidFill>
                  <a:schemeClr val="tx1"/>
                </a:solidFill>
              </a:rPr>
              <a:t>Noisy web text</a:t>
            </a:r>
            <a:endParaRPr lang="en-US" sz="1400" dirty="0"/>
          </a:p>
          <a:p>
            <a:pPr indent="0" marL="0">
              <a:spcAft>
                <a:spcPts val="300"/>
              </a:spcAft>
              <a:buNone/>
            </a:pPr>
            <a:r>
              <a:rPr lang="en-US" sz="1300" dirty="0">
                <a:solidFill>
                  <a:schemeClr val="tx1"/>
                </a:solidFill>
              </a:rPr>
              <a:t>Normalises emojis, elongated words, Hinglish and hashtags.</a:t>
            </a:r>
            <a:endParaRPr lang="en-US" sz="1400" dirty="0"/>
          </a:p>
          <a:p>
            <a:pPr indent="0" marL="0">
              <a:spcAft>
                <a:spcPts val="300"/>
              </a:spcAft>
              <a:buNone/>
            </a:pPr>
            <a:r>
              <a:rPr lang="en-US" sz="1100" i="1" dirty="0">
                <a:solidFill>
                  <a:schemeClr val="accent6"/>
                </a:solidFill>
              </a:rPr>
              <a:t>“burninggg, bahut garmi” → “burning, very heat”</a:t>
            </a:r>
            <a:endParaRPr lang="en-US" sz="1400" dirty="0"/>
          </a:p>
        </p:txBody>
      </p:sp>
      <p:sp>
        <p:nvSpPr>
          <p:cNvPr id="19" name="WordNet and word senses card"/>
          <p:cNvSpPr/>
          <p:nvPr/>
        </p:nvSpPr>
        <p:spPr>
          <a:xfrm>
            <a:off x="4288536" y="3657600"/>
            <a:ext cx="3611880" cy="1600200"/>
          </a:xfrm>
          <a:prstGeom prst="roundRect">
            <a:avLst>
              <a:gd name="adj" fmla="val 5714"/>
            </a:avLst>
          </a:prstGeom>
          <a:solidFill>
            <a:schemeClr val="bg2"/>
          </a:solidFill>
          <a:ln/>
        </p:spPr>
      </p:sp>
      <p:sp>
        <p:nvSpPr>
          <p:cNvPr id="20" name="WordNet and word senses circle"/>
          <p:cNvSpPr/>
          <p:nvPr/>
        </p:nvSpPr>
        <p:spPr>
          <a:xfrm>
            <a:off x="4471416" y="3858768"/>
            <a:ext cx="502920" cy="502920"/>
          </a:xfrm>
          <a:prstGeom prst="ellipse">
            <a:avLst/>
          </a:prstGeom>
          <a:solidFill>
            <a:schemeClr val="accent1"/>
          </a:solidFill>
          <a:ln/>
        </p:spPr>
      </p:sp>
      <p:pic>
        <p:nvPicPr>
          <p:cNvPr id="21" name="WordNet and word senses icon" descr="WordNet and word senses">    </p:cNvPr>
          <p:cNvPicPr>
            <a:picLocks noChangeAspect="1"/>
          </p:cNvPicPr>
          <p:nvPr/>
        </p:nvPicPr>
        <p:blipFill>
          <a:blip r:embed="rId5"/>
          <a:stretch>
            <a:fillRect/>
          </a:stretch>
        </p:blipFill>
        <p:spPr>
          <a:xfrm>
            <a:off x="4597146" y="3984498"/>
            <a:ext cx="251460" cy="251460"/>
          </a:xfrm>
          <a:prstGeom prst="rect">
            <a:avLst/>
          </a:prstGeom>
        </p:spPr>
      </p:pic>
      <p:sp>
        <p:nvSpPr>
          <p:cNvPr id="22" name="WordNet and word senses text"/>
          <p:cNvSpPr txBox="1"/>
          <p:nvPr/>
        </p:nvSpPr>
        <p:spPr>
          <a:xfrm>
            <a:off x="5157216" y="3813048"/>
            <a:ext cx="2606040" cy="1325880"/>
          </a:xfrm>
          <a:prstGeom prst="rect">
            <a:avLst/>
          </a:prstGeom>
          <a:noFill/>
          <a:ln/>
        </p:spPr>
        <p:txBody>
          <a:bodyPr wrap="square" lIns="0" tIns="0" rIns="0" bIns="0" rtlCol="0" anchor="t"/>
          <a:lstStyle/>
          <a:p>
            <a:pPr indent="0" marL="0">
              <a:spcAft>
                <a:spcPts val="300"/>
              </a:spcAft>
              <a:buNone/>
            </a:pPr>
            <a:r>
              <a:rPr lang="en-US" sz="1050" b="1" spc="100" kern="0" dirty="0">
                <a:solidFill>
                  <a:schemeClr val="accent2"/>
                </a:solidFill>
              </a:rPr>
              <a:t>MODULE 4 · UNITS 4.1–4.3</a:t>
            </a:r>
            <a:endParaRPr lang="en-US" sz="1400" dirty="0"/>
          </a:p>
          <a:p>
            <a:pPr indent="0" marL="0">
              <a:spcAft>
                <a:spcPts val="300"/>
              </a:spcAft>
              <a:buNone/>
            </a:pPr>
            <a:r>
              <a:rPr lang="en-US" sz="1500" b="1" dirty="0">
                <a:solidFill>
                  <a:schemeClr val="tx1"/>
                </a:solidFill>
              </a:rPr>
              <a:t>WordNet and word senses</a:t>
            </a:r>
            <a:endParaRPr lang="en-US" sz="1400" dirty="0"/>
          </a:p>
          <a:p>
            <a:pPr indent="0" marL="0">
              <a:spcAft>
                <a:spcPts val="300"/>
              </a:spcAft>
              <a:buNone/>
            </a:pPr>
            <a:r>
              <a:rPr lang="en-US" sz="1300" dirty="0">
                <a:solidFill>
                  <a:schemeClr val="tx1"/>
                </a:solidFill>
              </a:rPr>
              <a:t>Expands heat vocabulary, filters wrong senses; en→hi→mr dictionary.</a:t>
            </a:r>
            <a:endParaRPr lang="en-US" sz="1400" dirty="0"/>
          </a:p>
          <a:p>
            <a:pPr indent="0" marL="0">
              <a:spcAft>
                <a:spcPts val="300"/>
              </a:spcAft>
              <a:buNone/>
            </a:pPr>
            <a:r>
              <a:rPr lang="en-US" sz="1100" i="1" dirty="0">
                <a:solidFill>
                  <a:schemeClr val="accent6"/>
                </a:solidFill>
              </a:rPr>
              <a:t>“Miami Heat won” is not about the weather</a:t>
            </a:r>
            <a:endParaRPr lang="en-US" sz="1400" dirty="0"/>
          </a:p>
        </p:txBody>
      </p:sp>
      <p:sp>
        <p:nvSpPr>
          <p:cNvPr id="23" name="RNN, LSTM and Seq2Seq card"/>
          <p:cNvSpPr/>
          <p:nvPr/>
        </p:nvSpPr>
        <p:spPr>
          <a:xfrm>
            <a:off x="8119872" y="3657600"/>
            <a:ext cx="3611880" cy="1600200"/>
          </a:xfrm>
          <a:prstGeom prst="roundRect">
            <a:avLst>
              <a:gd name="adj" fmla="val 5714"/>
            </a:avLst>
          </a:prstGeom>
          <a:solidFill>
            <a:schemeClr val="bg2"/>
          </a:solidFill>
          <a:ln/>
        </p:spPr>
      </p:sp>
      <p:sp>
        <p:nvSpPr>
          <p:cNvPr id="24" name="RNN, LSTM and Seq2Seq circle"/>
          <p:cNvSpPr/>
          <p:nvPr/>
        </p:nvSpPr>
        <p:spPr>
          <a:xfrm>
            <a:off x="8302752" y="3858768"/>
            <a:ext cx="502920" cy="502920"/>
          </a:xfrm>
          <a:prstGeom prst="ellipse">
            <a:avLst/>
          </a:prstGeom>
          <a:solidFill>
            <a:schemeClr val="accent1"/>
          </a:solidFill>
          <a:ln/>
        </p:spPr>
      </p:sp>
      <p:pic>
        <p:nvPicPr>
          <p:cNvPr id="25" name="RNN, LSTM and Seq2Seq icon" descr="RNN, LSTM and Seq2Seq">    </p:cNvPr>
          <p:cNvPicPr>
            <a:picLocks noChangeAspect="1"/>
          </p:cNvPicPr>
          <p:nvPr/>
        </p:nvPicPr>
        <p:blipFill>
          <a:blip r:embed="rId6"/>
          <a:stretch>
            <a:fillRect/>
          </a:stretch>
        </p:blipFill>
        <p:spPr>
          <a:xfrm>
            <a:off x="8428482" y="3984498"/>
            <a:ext cx="251460" cy="251460"/>
          </a:xfrm>
          <a:prstGeom prst="rect">
            <a:avLst/>
          </a:prstGeom>
        </p:spPr>
      </p:pic>
      <p:sp>
        <p:nvSpPr>
          <p:cNvPr id="26" name="RNN, LSTM and Seq2Seq text"/>
          <p:cNvSpPr txBox="1"/>
          <p:nvPr/>
        </p:nvSpPr>
        <p:spPr>
          <a:xfrm>
            <a:off x="8988552" y="3813048"/>
            <a:ext cx="2606040" cy="1325880"/>
          </a:xfrm>
          <a:prstGeom prst="rect">
            <a:avLst/>
          </a:prstGeom>
          <a:noFill/>
          <a:ln/>
        </p:spPr>
        <p:txBody>
          <a:bodyPr wrap="square" lIns="0" tIns="0" rIns="0" bIns="0" rtlCol="0" anchor="t"/>
          <a:lstStyle/>
          <a:p>
            <a:pPr indent="0" marL="0">
              <a:spcAft>
                <a:spcPts val="300"/>
              </a:spcAft>
              <a:buNone/>
            </a:pPr>
            <a:r>
              <a:rPr lang="en-US" sz="1050" b="1" spc="100" kern="0" dirty="0">
                <a:solidFill>
                  <a:schemeClr val="accent2"/>
                </a:solidFill>
              </a:rPr>
              <a:t>MODULE 5 · UNITS 5.1–5.3</a:t>
            </a:r>
            <a:endParaRPr lang="en-US" sz="1400" dirty="0"/>
          </a:p>
          <a:p>
            <a:pPr indent="0" marL="0">
              <a:spcAft>
                <a:spcPts val="300"/>
              </a:spcAft>
              <a:buNone/>
            </a:pPr>
            <a:r>
              <a:rPr lang="en-US" sz="1500" b="1" dirty="0">
                <a:solidFill>
                  <a:schemeClr val="tx1"/>
                </a:solidFill>
              </a:rPr>
              <a:t>RNN, LSTM and Seq2Seq</a:t>
            </a:r>
            <a:endParaRPr lang="en-US" sz="1400" dirty="0"/>
          </a:p>
          <a:p>
            <a:pPr indent="0" marL="0">
              <a:spcAft>
                <a:spcPts val="300"/>
              </a:spcAft>
              <a:buNone/>
            </a:pPr>
            <a:r>
              <a:rPr lang="en-US" sz="1300" dirty="0">
                <a:solidFill>
                  <a:schemeClr val="tx1"/>
                </a:solidFill>
              </a:rPr>
              <a:t>BiLSTM classifies posts; Seq2Seq with attention writes advisories.</a:t>
            </a:r>
            <a:endParaRPr lang="en-US" sz="1400" dirty="0"/>
          </a:p>
          <a:p>
            <a:pPr indent="0" marL="0">
              <a:spcAft>
                <a:spcPts val="300"/>
              </a:spcAft>
              <a:buNone/>
            </a:pPr>
            <a:r>
              <a:rPr lang="en-US" sz="1100" i="1" dirty="0">
                <a:solidFill>
                  <a:schemeClr val="accent6"/>
                </a:solidFill>
              </a:rPr>
              <a:t>Beam search · teacher forcing · gradient clipping</a:t>
            </a:r>
            <a:endParaRPr lang="en-US" sz="1400" dirty="0"/>
          </a:p>
        </p:txBody>
      </p:sp>
      <p:sp>
        <p:nvSpPr>
          <p:cNvPr id="27" name="responsible AI callout"/>
          <p:cNvSpPr/>
          <p:nvPr/>
        </p:nvSpPr>
        <p:spPr>
          <a:xfrm>
            <a:off x="457200" y="5486400"/>
            <a:ext cx="11274552" cy="685800"/>
          </a:xfrm>
          <a:prstGeom prst="roundRect">
            <a:avLst>
              <a:gd name="adj" fmla="val 13333"/>
            </a:avLst>
          </a:prstGeom>
          <a:solidFill>
            <a:schemeClr val="accent5">
              <a:alpha val="12000"/>
            </a:schemeClr>
          </a:solidFill>
          <a:ln/>
        </p:spPr>
      </p:sp>
      <p:sp>
        <p:nvSpPr>
          <p:cNvPr id="28" name="Responsible AI circle"/>
          <p:cNvSpPr/>
          <p:nvPr/>
        </p:nvSpPr>
        <p:spPr>
          <a:xfrm>
            <a:off x="640080" y="5577840"/>
            <a:ext cx="502920" cy="502920"/>
          </a:xfrm>
          <a:prstGeom prst="ellipse">
            <a:avLst/>
          </a:prstGeom>
          <a:solidFill>
            <a:schemeClr val="accent5"/>
          </a:solidFill>
          <a:ln/>
        </p:spPr>
      </p:sp>
      <p:pic>
        <p:nvPicPr>
          <p:cNvPr id="29" name="Responsible AI icon" descr="Responsible AI">    </p:cNvPr>
          <p:cNvPicPr>
            <a:picLocks noChangeAspect="1"/>
          </p:cNvPicPr>
          <p:nvPr/>
        </p:nvPicPr>
        <p:blipFill>
          <a:blip r:embed="rId7"/>
          <a:stretch>
            <a:fillRect/>
          </a:stretch>
        </p:blipFill>
        <p:spPr>
          <a:xfrm>
            <a:off x="765810" y="5703570"/>
            <a:ext cx="251460" cy="251460"/>
          </a:xfrm>
          <a:prstGeom prst="rect">
            <a:avLst/>
          </a:prstGeom>
        </p:spPr>
      </p:pic>
      <p:sp>
        <p:nvSpPr>
          <p:cNvPr id="30" name="responsible AI text"/>
          <p:cNvSpPr txBox="1"/>
          <p:nvPr/>
        </p:nvSpPr>
        <p:spPr>
          <a:xfrm>
            <a:off x="1325880" y="5486400"/>
            <a:ext cx="10241280" cy="685800"/>
          </a:xfrm>
          <a:prstGeom prst="rect">
            <a:avLst/>
          </a:prstGeom>
          <a:noFill/>
          <a:ln/>
        </p:spPr>
        <p:txBody>
          <a:bodyPr wrap="square" lIns="0" tIns="0" rIns="0" bIns="0" rtlCol="0" anchor="ctr"/>
          <a:lstStyle/>
          <a:p>
            <a:pPr indent="0" marL="0">
              <a:buNone/>
            </a:pPr>
            <a:r>
              <a:rPr lang="en-US" sz="1400" b="1" dirty="0">
                <a:solidFill>
                  <a:schemeClr val="accent5"/>
                </a:solidFill>
              </a:rPr>
              <a:t>Responsible AI:  </a:t>
            </a:r>
            <a:pPr indent="0" marL="0">
              <a:buNone/>
            </a:pPr>
            <a:r>
              <a:rPr lang="en-US" sz="1400" dirty="0">
                <a:solidFill>
                  <a:schemeClr val="tx1"/>
                </a:solidFill>
              </a:rPr>
              <a:t>IMD rules decide severity  ·  real values come from data  ·  10 automatic checks  ·  expert approves Orange/Red</a:t>
            </a:r>
            <a:endParaRPr lang="en-US" sz="1400" dirty="0"/>
          </a:p>
        </p:txBody>
      </p:sp>
      <p:sp>
        <p:nvSpPr>
          <p:cNvPr id="25" name="Slide Number Placeholder 0"/>
          <p:cNvSpPr>
            <a:spLocks noGrp="1"/>
          </p:cNvSpPr>
          <p:nvPr>
            <p:ph type="sldNum" sz="quarter" idx="4294967295"/>
          </p:nvPr>
        </p:nvSpPr>
        <p:spPr>
          <a:xfrm>
            <a:off x="11091672" y="6537960"/>
            <a:ext cx="64008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1"/>
                </a:solidFill>
                <a:latin typeface="Arial"/>
                <a:ea typeface="Arial"/>
                <a:cs typeface="Arial"/>
              </a:defRPr>
            </a:lvl1pPr>
          </a:lstStyle>
          <a:p>
            <a:pPr algn="ct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4" type="title" hasCustomPrompt="1"/>
          </p:nvPr>
        </p:nvSpPr>
        <p:spPr>
          <a:xfrm>
            <a:off x="457200" y="1097280"/>
            <a:ext cx="10332720" cy="640080"/>
          </a:xfrm>
          <a:prstGeom prst="rect">
            <a:avLst/>
          </a:prstGeom>
          <a:noFill/>
          <a:ln/>
        </p:spPr>
        <p:txBody>
          <a:bodyPr wrap="square" lIns="0" tIns="0" rIns="0" bIns="0" rtlCol="0" anchor="ctr"/>
          <a:lstStyle/>
          <a:p>
            <a:pPr algn="l" indent="0" marL="0">
              <a:buNone/>
            </a:pPr>
            <a:r>
              <a:rPr lang="en-US" sz="3000" b="1" dirty="0">
                <a:solidFill>
                  <a:schemeClr val="tx2"/>
                </a:solidFill>
              </a:rPr>
              <a:t>Results and next steps</a:t>
            </a:r>
            <a:endParaRPr lang="en-US" sz="3000" dirty="0"/>
          </a:p>
        </p:txBody>
      </p:sp>
      <p:sp>
        <p:nvSpPr>
          <p:cNvPr id="3" name="0.94 tile"/>
          <p:cNvSpPr/>
          <p:nvPr/>
        </p:nvSpPr>
        <p:spPr>
          <a:xfrm>
            <a:off x="457200" y="1874520"/>
            <a:ext cx="2651760" cy="1417320"/>
          </a:xfrm>
          <a:prstGeom prst="roundRect">
            <a:avLst>
              <a:gd name="adj" fmla="val 6452"/>
            </a:avLst>
          </a:prstGeom>
          <a:solidFill>
            <a:schemeClr val="bg2"/>
          </a:solidFill>
          <a:ln/>
        </p:spPr>
      </p:sp>
      <p:sp>
        <p:nvSpPr>
          <p:cNvPr id="4" name="0.94 value"/>
          <p:cNvSpPr txBox="1"/>
          <p:nvPr/>
        </p:nvSpPr>
        <p:spPr>
          <a:xfrm>
            <a:off x="640080" y="1965960"/>
            <a:ext cx="2286000" cy="64008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0.94</a:t>
            </a:r>
            <a:endParaRPr lang="en-US" sz="3600" dirty="0"/>
          </a:p>
        </p:txBody>
      </p:sp>
      <p:sp>
        <p:nvSpPr>
          <p:cNvPr id="5" name="0.94 label"/>
          <p:cNvSpPr txBox="1"/>
          <p:nvPr/>
        </p:nvSpPr>
        <p:spPr>
          <a:xfrm>
            <a:off x="640080" y="2606040"/>
            <a:ext cx="2286000" cy="594360"/>
          </a:xfrm>
          <a:prstGeom prst="rect">
            <a:avLst/>
          </a:prstGeom>
          <a:noFill/>
          <a:ln/>
        </p:spPr>
        <p:txBody>
          <a:bodyPr wrap="square" lIns="0" tIns="0" rIns="0" bIns="0" rtlCol="0" anchor="t"/>
          <a:lstStyle/>
          <a:p>
            <a:pPr indent="0" marL="0">
              <a:buNone/>
            </a:pPr>
            <a:r>
              <a:rPr lang="en-US" sz="1300" dirty="0">
                <a:solidFill>
                  <a:schemeClr val="accent6"/>
                </a:solidFill>
              </a:rPr>
              <a:t>NER F1 on places, dates and temperatures, for unseen places</a:t>
            </a:r>
            <a:endParaRPr lang="en-US" sz="1300" dirty="0"/>
          </a:p>
        </p:txBody>
      </p:sp>
      <p:sp>
        <p:nvSpPr>
          <p:cNvPr id="6" name="90% tile"/>
          <p:cNvSpPr/>
          <p:nvPr/>
        </p:nvSpPr>
        <p:spPr>
          <a:xfrm>
            <a:off x="3331464" y="1874520"/>
            <a:ext cx="2651760" cy="1417320"/>
          </a:xfrm>
          <a:prstGeom prst="roundRect">
            <a:avLst>
              <a:gd name="adj" fmla="val 6452"/>
            </a:avLst>
          </a:prstGeom>
          <a:solidFill>
            <a:schemeClr val="bg2"/>
          </a:solidFill>
          <a:ln/>
        </p:spPr>
      </p:sp>
      <p:sp>
        <p:nvSpPr>
          <p:cNvPr id="7" name="90% value"/>
          <p:cNvSpPr txBox="1"/>
          <p:nvPr/>
        </p:nvSpPr>
        <p:spPr>
          <a:xfrm>
            <a:off x="3514344" y="1965960"/>
            <a:ext cx="2286000" cy="64008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90%</a:t>
            </a:r>
            <a:endParaRPr lang="en-US" sz="3600" dirty="0"/>
          </a:p>
        </p:txBody>
      </p:sp>
      <p:sp>
        <p:nvSpPr>
          <p:cNvPr id="8" name="90% label"/>
          <p:cNvSpPr txBox="1"/>
          <p:nvPr/>
        </p:nvSpPr>
        <p:spPr>
          <a:xfrm>
            <a:off x="3514344" y="2606040"/>
            <a:ext cx="2286000" cy="594360"/>
          </a:xfrm>
          <a:prstGeom prst="rect">
            <a:avLst/>
          </a:prstGeom>
          <a:noFill/>
          <a:ln/>
        </p:spPr>
        <p:txBody>
          <a:bodyPr wrap="square" lIns="0" tIns="0" rIns="0" bIns="0" rtlCol="0" anchor="t"/>
          <a:lstStyle/>
          <a:p>
            <a:pPr indent="0" marL="0">
              <a:buNone/>
            </a:pPr>
            <a:r>
              <a:rPr lang="en-US" sz="1300" dirty="0">
                <a:solidFill>
                  <a:schemeClr val="accent6"/>
                </a:solidFill>
              </a:rPr>
              <a:t>citizen-post classification accuracy (keyword baseline: 78%)</a:t>
            </a:r>
            <a:endParaRPr lang="en-US" sz="1300" dirty="0"/>
          </a:p>
        </p:txBody>
      </p:sp>
      <p:sp>
        <p:nvSpPr>
          <p:cNvPr id="9" name="480/480 tile"/>
          <p:cNvSpPr/>
          <p:nvPr/>
        </p:nvSpPr>
        <p:spPr>
          <a:xfrm>
            <a:off x="6205728" y="1874520"/>
            <a:ext cx="2651760" cy="1417320"/>
          </a:xfrm>
          <a:prstGeom prst="roundRect">
            <a:avLst>
              <a:gd name="adj" fmla="val 6452"/>
            </a:avLst>
          </a:prstGeom>
          <a:solidFill>
            <a:schemeClr val="bg2"/>
          </a:solidFill>
          <a:ln/>
        </p:spPr>
      </p:sp>
      <p:sp>
        <p:nvSpPr>
          <p:cNvPr id="10" name="480/480 value"/>
          <p:cNvSpPr txBox="1"/>
          <p:nvPr/>
        </p:nvSpPr>
        <p:spPr>
          <a:xfrm>
            <a:off x="6388608" y="1965960"/>
            <a:ext cx="2286000" cy="64008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480/480</a:t>
            </a:r>
            <a:endParaRPr lang="en-US" sz="3600" dirty="0"/>
          </a:p>
        </p:txBody>
      </p:sp>
      <p:sp>
        <p:nvSpPr>
          <p:cNvPr id="11" name="480/480 label"/>
          <p:cNvSpPr txBox="1"/>
          <p:nvPr/>
        </p:nvSpPr>
        <p:spPr>
          <a:xfrm>
            <a:off x="6388608" y="2606040"/>
            <a:ext cx="2286000" cy="594360"/>
          </a:xfrm>
          <a:prstGeom prst="rect">
            <a:avLst/>
          </a:prstGeom>
          <a:noFill/>
          <a:ln/>
        </p:spPr>
        <p:txBody>
          <a:bodyPr wrap="square" lIns="0" tIns="0" rIns="0" bIns="0" rtlCol="0" anchor="t"/>
          <a:lstStyle/>
          <a:p>
            <a:pPr indent="0" marL="0">
              <a:buNone/>
            </a:pPr>
            <a:r>
              <a:rPr lang="en-US" sz="1300" dirty="0">
                <a:solidFill>
                  <a:schemeClr val="accent6"/>
                </a:solidFill>
              </a:rPr>
              <a:t>generated advisories pass all 10 automatic checks</a:t>
            </a:r>
            <a:endParaRPr lang="en-US" sz="1300" dirty="0"/>
          </a:p>
        </p:txBody>
      </p:sp>
      <p:sp>
        <p:nvSpPr>
          <p:cNvPr id="12" name="2,366 tile"/>
          <p:cNvSpPr/>
          <p:nvPr/>
        </p:nvSpPr>
        <p:spPr>
          <a:xfrm>
            <a:off x="9079992" y="1874520"/>
            <a:ext cx="2651760" cy="1417320"/>
          </a:xfrm>
          <a:prstGeom prst="roundRect">
            <a:avLst>
              <a:gd name="adj" fmla="val 6452"/>
            </a:avLst>
          </a:prstGeom>
          <a:solidFill>
            <a:schemeClr val="bg2"/>
          </a:solidFill>
          <a:ln/>
        </p:spPr>
      </p:sp>
      <p:sp>
        <p:nvSpPr>
          <p:cNvPr id="13" name="2,366 value"/>
          <p:cNvSpPr txBox="1"/>
          <p:nvPr/>
        </p:nvSpPr>
        <p:spPr>
          <a:xfrm>
            <a:off x="9262872" y="1965960"/>
            <a:ext cx="2286000" cy="64008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2,366</a:t>
            </a:r>
            <a:endParaRPr lang="en-US" sz="3600" dirty="0"/>
          </a:p>
        </p:txBody>
      </p:sp>
      <p:sp>
        <p:nvSpPr>
          <p:cNvPr id="14" name="2,366 label"/>
          <p:cNvSpPr txBox="1"/>
          <p:nvPr/>
        </p:nvSpPr>
        <p:spPr>
          <a:xfrm>
            <a:off x="9262872" y="2606040"/>
            <a:ext cx="2286000" cy="594360"/>
          </a:xfrm>
          <a:prstGeom prst="rect">
            <a:avLst/>
          </a:prstGeom>
          <a:noFill/>
          <a:ln/>
        </p:spPr>
        <p:txBody>
          <a:bodyPr wrap="square" lIns="0" tIns="0" rIns="0" bIns="0" rtlCol="0" anchor="t"/>
          <a:lstStyle/>
          <a:p>
            <a:pPr indent="0" marL="0">
              <a:buNone/>
            </a:pPr>
            <a:r>
              <a:rPr lang="en-US" sz="1300" dirty="0">
                <a:solidFill>
                  <a:schemeClr val="accent6"/>
                </a:solidFill>
              </a:rPr>
              <a:t>real IMD records (Apr–Jun 2024) processed end to end</a:t>
            </a:r>
            <a:endParaRPr lang="en-US" sz="1300" dirty="0"/>
          </a:p>
        </p:txBody>
      </p:sp>
      <p:sp>
        <p:nvSpPr>
          <p:cNvPr id="15" name="sample header"/>
          <p:cNvSpPr txBox="1"/>
          <p:nvPr/>
        </p:nvSpPr>
        <p:spPr>
          <a:xfrm>
            <a:off x="457200" y="3520440"/>
            <a:ext cx="6766560" cy="32004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Sample output · Chandrapur, 47.6 °C → Red</a:t>
            </a:r>
            <a:endParaRPr lang="en-US" sz="1600" dirty="0"/>
          </a:p>
        </p:txBody>
      </p:sp>
      <p:sp>
        <p:nvSpPr>
          <p:cNvPr id="16" name="EN tag"/>
          <p:cNvSpPr/>
          <p:nvPr/>
        </p:nvSpPr>
        <p:spPr>
          <a:xfrm>
            <a:off x="457200" y="4005072"/>
            <a:ext cx="457200" cy="329184"/>
          </a:xfrm>
          <a:prstGeom prst="roundRect">
            <a:avLst>
              <a:gd name="adj" fmla="val 16667"/>
            </a:avLst>
          </a:prstGeom>
          <a:solidFill>
            <a:schemeClr val="accent2"/>
          </a:solidFill>
          <a:ln/>
        </p:spPr>
      </p:sp>
      <p:sp>
        <p:nvSpPr>
          <p:cNvPr id="17" name="EN tag text"/>
          <p:cNvSpPr txBox="1"/>
          <p:nvPr/>
        </p:nvSpPr>
        <p:spPr>
          <a:xfrm>
            <a:off x="457200" y="4005072"/>
            <a:ext cx="457200" cy="329184"/>
          </a:xfrm>
          <a:prstGeom prst="rect">
            <a:avLst/>
          </a:prstGeom>
          <a:noFill/>
          <a:ln/>
        </p:spPr>
        <p:txBody>
          <a:bodyPr wrap="square" lIns="0" tIns="0" rIns="0" bIns="0" rtlCol="0" anchor="ctr"/>
          <a:lstStyle/>
          <a:p>
            <a:pPr algn="ctr" indent="0" marL="0">
              <a:buNone/>
            </a:pPr>
            <a:r>
              <a:rPr lang="en-US" sz="1100" b="1" dirty="0">
                <a:solidFill>
                  <a:schemeClr val="bg1"/>
                </a:solidFill>
              </a:rPr>
              <a:t>EN</a:t>
            </a:r>
            <a:endParaRPr lang="en-US" sz="1100" dirty="0"/>
          </a:p>
        </p:txBody>
      </p:sp>
      <p:sp>
        <p:nvSpPr>
          <p:cNvPr id="18" name="EN sample"/>
          <p:cNvSpPr txBox="1"/>
          <p:nvPr/>
        </p:nvSpPr>
        <p:spPr>
          <a:xfrm>
            <a:off x="1051560" y="4023360"/>
            <a:ext cx="6172200" cy="548640"/>
          </a:xfrm>
          <a:prstGeom prst="rect">
            <a:avLst/>
          </a:prstGeom>
          <a:noFill/>
          <a:ln/>
        </p:spPr>
        <p:txBody>
          <a:bodyPr wrap="square" lIns="0" tIns="0" rIns="0" bIns="0" rtlCol="0" anchor="t"/>
          <a:lstStyle/>
          <a:p>
            <a:pPr indent="0" marL="0">
              <a:buNone/>
            </a:pPr>
            <a:r>
              <a:rPr lang="en-IN" altLang="en-US" sz="1300" dirty="0">
                <a:solidFill>
                  <a:schemeClr val="tx1"/>
                </a:solidFill>
              </a:rPr>
              <a:t>Severe heatwave warning for Chandrapur on 18 May: temperature may touch 47.6 °C, 4.6 °C above normal.</a:t>
            </a:r>
            <a:endParaRPr lang="en-IN" sz="1300" dirty="0"/>
          </a:p>
        </p:txBody>
      </p:sp>
      <p:sp>
        <p:nvSpPr>
          <p:cNvPr id="19" name="HI tag"/>
          <p:cNvSpPr/>
          <p:nvPr/>
        </p:nvSpPr>
        <p:spPr>
          <a:xfrm>
            <a:off x="457200" y="4690872"/>
            <a:ext cx="457200" cy="329184"/>
          </a:xfrm>
          <a:prstGeom prst="roundRect">
            <a:avLst>
              <a:gd name="adj" fmla="val 16667"/>
            </a:avLst>
          </a:prstGeom>
          <a:solidFill>
            <a:schemeClr val="accent2"/>
          </a:solidFill>
          <a:ln/>
        </p:spPr>
      </p:sp>
      <p:sp>
        <p:nvSpPr>
          <p:cNvPr id="20" name="HI tag text"/>
          <p:cNvSpPr txBox="1"/>
          <p:nvPr/>
        </p:nvSpPr>
        <p:spPr>
          <a:xfrm>
            <a:off x="457200" y="4690872"/>
            <a:ext cx="457200" cy="329184"/>
          </a:xfrm>
          <a:prstGeom prst="rect">
            <a:avLst/>
          </a:prstGeom>
          <a:noFill/>
          <a:ln/>
        </p:spPr>
        <p:txBody>
          <a:bodyPr wrap="square" lIns="0" tIns="0" rIns="0" bIns="0" rtlCol="0" anchor="ctr"/>
          <a:lstStyle/>
          <a:p>
            <a:pPr algn="ctr" indent="0" marL="0">
              <a:buNone/>
            </a:pPr>
            <a:r>
              <a:rPr lang="en-US" sz="1100" b="1" dirty="0">
                <a:solidFill>
                  <a:schemeClr val="bg1"/>
                </a:solidFill>
              </a:rPr>
              <a:t>HI</a:t>
            </a:r>
            <a:endParaRPr lang="en-US" sz="1100" dirty="0"/>
          </a:p>
        </p:txBody>
      </p:sp>
      <p:sp>
        <p:nvSpPr>
          <p:cNvPr id="21" name="HI sample"/>
          <p:cNvSpPr txBox="1"/>
          <p:nvPr/>
        </p:nvSpPr>
        <p:spPr>
          <a:xfrm>
            <a:off x="1051560" y="4709160"/>
            <a:ext cx="6172200" cy="548640"/>
          </a:xfrm>
          <a:prstGeom prst="rect">
            <a:avLst/>
          </a:prstGeom>
          <a:noFill/>
          <a:ln/>
        </p:spPr>
        <p:txBody>
          <a:bodyPr wrap="square" lIns="0" tIns="0" rIns="0" bIns="0" rtlCol="0" anchor="t"/>
          <a:lstStyle/>
          <a:p>
            <a:pPr indent="0" marL="0">
              <a:buNone/>
            </a:pPr>
            <a:r>
              <a:rPr lang="hi-IN" altLang="en-US" sz="1300" dirty="0">
                <a:solidFill>
                  <a:schemeClr val="tx1"/>
                </a:solidFill>
              </a:rPr>
              <a:t>चंद्रपुर में 18 मई को भीषण लू की चेतावनी, तापमान 47.6 °C तक पहुँच सकता है।</a:t>
            </a:r>
            <a:endParaRPr lang="hi-IN" sz="1300" dirty="0"/>
          </a:p>
        </p:txBody>
      </p:sp>
      <p:sp>
        <p:nvSpPr>
          <p:cNvPr id="22" name="MR tag"/>
          <p:cNvSpPr/>
          <p:nvPr/>
        </p:nvSpPr>
        <p:spPr>
          <a:xfrm>
            <a:off x="457200" y="5376672"/>
            <a:ext cx="457200" cy="329184"/>
          </a:xfrm>
          <a:prstGeom prst="roundRect">
            <a:avLst>
              <a:gd name="adj" fmla="val 16667"/>
            </a:avLst>
          </a:prstGeom>
          <a:solidFill>
            <a:schemeClr val="accent2"/>
          </a:solidFill>
          <a:ln/>
        </p:spPr>
      </p:sp>
      <p:sp>
        <p:nvSpPr>
          <p:cNvPr id="23" name="MR tag text"/>
          <p:cNvSpPr txBox="1"/>
          <p:nvPr/>
        </p:nvSpPr>
        <p:spPr>
          <a:xfrm>
            <a:off x="457200" y="5376672"/>
            <a:ext cx="457200" cy="329184"/>
          </a:xfrm>
          <a:prstGeom prst="rect">
            <a:avLst/>
          </a:prstGeom>
          <a:noFill/>
          <a:ln/>
        </p:spPr>
        <p:txBody>
          <a:bodyPr wrap="square" lIns="0" tIns="0" rIns="0" bIns="0" rtlCol="0" anchor="ctr"/>
          <a:lstStyle/>
          <a:p>
            <a:pPr algn="ctr" indent="0" marL="0">
              <a:buNone/>
            </a:pPr>
            <a:r>
              <a:rPr lang="en-US" sz="1100" b="1" dirty="0">
                <a:solidFill>
                  <a:schemeClr val="bg1"/>
                </a:solidFill>
              </a:rPr>
              <a:t>MR</a:t>
            </a:r>
            <a:endParaRPr lang="en-US" sz="1100" dirty="0"/>
          </a:p>
        </p:txBody>
      </p:sp>
      <p:sp>
        <p:nvSpPr>
          <p:cNvPr id="24" name="MR sample"/>
          <p:cNvSpPr txBox="1"/>
          <p:nvPr/>
        </p:nvSpPr>
        <p:spPr>
          <a:xfrm>
            <a:off x="1051560" y="5394960"/>
            <a:ext cx="6172200" cy="548640"/>
          </a:xfrm>
          <a:prstGeom prst="rect">
            <a:avLst/>
          </a:prstGeom>
          <a:noFill/>
          <a:ln/>
        </p:spPr>
        <p:txBody>
          <a:bodyPr wrap="square" lIns="0" tIns="0" rIns="0" bIns="0" rtlCol="0" anchor="t"/>
          <a:lstStyle/>
          <a:p>
            <a:pPr indent="0" marL="0">
              <a:buNone/>
            </a:pPr>
            <a:r>
              <a:rPr lang="mr-IN" altLang="en-US" sz="1300" dirty="0">
                <a:solidFill>
                  <a:schemeClr val="tx1"/>
                </a:solidFill>
              </a:rPr>
              <a:t>चंद्रपूर येथे 18 मे रोजी तीव्र उष्णतेच्या लाटेचा इशारा, तापमान 47.6 °C पर्यंत जाऊ शकते.</a:t>
            </a:r>
            <a:endParaRPr lang="mr-IN" sz="1300" dirty="0"/>
          </a:p>
        </p:txBody>
      </p:sp>
      <p:sp>
        <p:nvSpPr>
          <p:cNvPr id="25" name="next steps panel"/>
          <p:cNvSpPr/>
          <p:nvPr/>
        </p:nvSpPr>
        <p:spPr>
          <a:xfrm>
            <a:off x="7589520" y="3520440"/>
            <a:ext cx="4142232" cy="2240280"/>
          </a:xfrm>
          <a:prstGeom prst="roundRect">
            <a:avLst>
              <a:gd name="adj" fmla="val 4082"/>
            </a:avLst>
          </a:prstGeom>
          <a:solidFill>
            <a:schemeClr val="accent1">
              <a:alpha val="8000"/>
            </a:schemeClr>
          </a:solidFill>
          <a:ln/>
        </p:spPr>
      </p:sp>
      <p:sp>
        <p:nvSpPr>
          <p:cNvPr id="26" name="next steps header"/>
          <p:cNvSpPr txBox="1"/>
          <p:nvPr/>
        </p:nvSpPr>
        <p:spPr>
          <a:xfrm>
            <a:off x="7818120" y="3630168"/>
            <a:ext cx="3657600" cy="320040"/>
          </a:xfrm>
          <a:prstGeom prst="rect">
            <a:avLst/>
          </a:prstGeom>
          <a:noFill/>
          <a:ln/>
        </p:spPr>
        <p:txBody>
          <a:bodyPr wrap="square" lIns="0" tIns="0" rIns="0" bIns="0" rtlCol="0" anchor="t"/>
          <a:lstStyle/>
          <a:p>
            <a:pPr indent="0" marL="0">
              <a:buNone/>
            </a:pPr>
            <a:r>
              <a:rPr lang="en-US" sz="1600" b="1" dirty="0">
                <a:solidFill>
                  <a:schemeClr val="accent1"/>
                </a:solidFill>
                <a:latin typeface="Cambria" pitchFamily="34" charset="0"/>
                <a:ea typeface="Cambria" pitchFamily="34" charset="-122"/>
                <a:cs typeface="Cambria" pitchFamily="34" charset="-120"/>
              </a:rPr>
              <a:t>Next steps</a:t>
            </a:r>
            <a:endParaRPr lang="en-US" sz="1600" dirty="0"/>
          </a:p>
        </p:txBody>
      </p:sp>
      <p:sp>
        <p:nvSpPr>
          <p:cNvPr id="27" name="next steps list"/>
          <p:cNvSpPr txBox="1"/>
          <p:nvPr/>
        </p:nvSpPr>
        <p:spPr>
          <a:xfrm>
            <a:off x="7818120" y="4023360"/>
            <a:ext cx="374904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Train and test on real IMD bulletins and labelled posts</a:t>
            </a:r>
            <a:endParaRPr lang="en-US" sz="1400" dirty="0"/>
          </a:p>
          <a:p>
            <a:pPr marL="342900" indent="-342900">
              <a:spcAft>
                <a:spcPts val="600"/>
              </a:spcAft>
              <a:buSzPct val="100000"/>
              <a:buChar char="•"/>
            </a:pPr>
            <a:r>
              <a:rPr lang="en-US" sz="1400" dirty="0">
                <a:solidFill>
                  <a:schemeClr val="tx1"/>
                </a:solidFill>
              </a:rPr>
              <a:t>LLM-assisted advisories, keeping the same checks</a:t>
            </a:r>
            <a:endParaRPr lang="en-US" sz="1400" dirty="0"/>
          </a:p>
          <a:p>
            <a:pPr marL="342900" indent="-342900">
              <a:spcAft>
                <a:spcPts val="600"/>
              </a:spcAft>
              <a:buSzPct val="100000"/>
              <a:buChar char="•"/>
            </a:pPr>
            <a:r>
              <a:rPr lang="en-US" sz="1400" dirty="0">
                <a:solidFill>
                  <a:schemeClr val="tx1"/>
                </a:solidFill>
              </a:rPr>
              <a:t>Voice alerts for farmers</a:t>
            </a:r>
            <a:endParaRPr lang="en-US" sz="1400" dirty="0"/>
          </a:p>
          <a:p>
            <a:pPr marL="342900" indent="-342900">
              <a:spcAft>
                <a:spcPts val="600"/>
              </a:spcAft>
              <a:buSzPct val="100000"/>
              <a:buChar char="•"/>
            </a:pPr>
            <a:r>
              <a:rPr lang="en-US" sz="1400" dirty="0">
                <a:solidFill>
                  <a:schemeClr val="tx1"/>
                </a:solidFill>
              </a:rPr>
              <a:t>Feed advisories into the heatwave dashboard</a:t>
            </a:r>
            <a:endParaRPr lang="en-US" sz="1400" dirty="0"/>
          </a:p>
        </p:txBody>
      </p:sp>
      <p:sp>
        <p:nvSpPr>
          <p:cNvPr id="28" name="results caveat"/>
          <p:cNvSpPr txBox="1"/>
          <p:nvPr/>
        </p:nvSpPr>
        <p:spPr>
          <a:xfrm>
            <a:off x="7589520" y="5833872"/>
            <a:ext cx="4142232" cy="274320"/>
          </a:xfrm>
          <a:prstGeom prst="rect">
            <a:avLst/>
          </a:prstGeom>
          <a:noFill/>
          <a:ln/>
        </p:spPr>
        <p:txBody>
          <a:bodyPr wrap="square" lIns="0" tIns="0" rIns="0" bIns="0" rtlCol="0" anchor="t"/>
          <a:lstStyle/>
          <a:p>
            <a:pPr indent="0" marL="0">
              <a:buNone/>
            </a:pPr>
            <a:r>
              <a:rPr lang="en-US" sz="1100" i="1" dirty="0">
                <a:solidFill>
                  <a:schemeClr val="accent6"/>
                </a:solidFill>
              </a:rPr>
              <a:t>Scores are on synthetic test data; real-world scores will be lower.</a:t>
            </a:r>
            <a:endParaRPr lang="en-US" sz="1100" dirty="0"/>
          </a:p>
        </p:txBody>
      </p:sp>
      <p:sp>
        <p:nvSpPr>
          <p:cNvPr id="25" name="Slide Number Placeholder 0"/>
          <p:cNvSpPr>
            <a:spLocks noGrp="1"/>
          </p:cNvSpPr>
          <p:nvPr>
            <p:ph type="sldNum" sz="quarter" idx="4294967295"/>
          </p:nvPr>
        </p:nvSpPr>
        <p:spPr>
          <a:xfrm>
            <a:off x="11091672" y="6537960"/>
            <a:ext cx="64008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1"/>
                </a:solidFill>
                <a:latin typeface="Arial"/>
                <a:ea typeface="Arial"/>
                <a:cs typeface="Arial"/>
              </a:defRPr>
            </a:lvl1pPr>
          </a:lstStyle>
          <a:p>
            <a:pPr algn="ct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Somaiya Heatwave NLP">
  <a:themeElements>
    <a:clrScheme name="Somaiya Heatwave NLP">
      <a:dk1>
        <a:srgbClr val="262626"/>
      </a:dk1>
      <a:lt1>
        <a:srgbClr val="FFFFFF"/>
      </a:lt1>
      <a:dk2>
        <a:srgbClr val="A83034"/>
      </a:dk2>
      <a:lt2>
        <a:srgbClr val="F4F5F7"/>
      </a:lt2>
      <a:accent1>
        <a:srgbClr val="A83034"/>
      </a:accent1>
      <a:accent2>
        <a:srgbClr val="DA3832"/>
      </a:accent2>
      <a:accent3>
        <a:srgbClr val="2E5A7A"/>
      </a:accent3>
      <a:accent4>
        <a:srgbClr val="C9851A"/>
      </a:accent4>
      <a:accent5>
        <a:srgbClr val="2E8B57"/>
      </a:accent5>
      <a:accent6>
        <a:srgbClr val="6B7280"/>
      </a:accent6>
      <a:hlink>
        <a:srgbClr val="2E5A7A"/>
      </a:hlink>
      <a:folHlink>
        <a:srgbClr val="6B7280"/>
      </a:folHlink>
    </a:clrScheme>
    <a:fontScheme name="Somaiya Heatwave NLP">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Heatwave NLP: Multilingual Early-Warning Advisories</dc:title>
  <dc:subject>NLP course · AI use case KJS-CES-01</dc:subject>
  <dc:creator>PptxGenJS</dc:creator>
  <cp:lastModifiedBy>PptxGenJS</cp:lastModifiedBy>
  <cp:revision>1</cp:revision>
  <dcterms:created xsi:type="dcterms:W3CDTF">2026-10-09T01:18:42Z</dcterms:created>
  <dcterms:modified xsi:type="dcterms:W3CDTF">2026-10-09T01:18:42Z</dcterms:modified>
</cp:coreProperties>
</file>